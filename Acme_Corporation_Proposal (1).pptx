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F41E12-AB30-41DE-8A6A-8B18CE6E9D68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6B73DC-A910-4A31-A6D5-0A84904A0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18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rgbClr val="FFFFFF"/>
                </a:solidFill>
                <a:latin typeface="Arial"/>
              </a:rPr>
              <a:t>Autonomous Proposal Document Creator Platform for Acme Corporation</a:t>
            </a:r>
          </a:p>
          <a:p>
            <a:r>
              <a:rPr sz="1800" b="0" dirty="0">
                <a:solidFill>
                  <a:srgbClr val="F0F0F0"/>
                </a:solidFill>
                <a:latin typeface="Arial"/>
              </a:rPr>
              <a:t>Prepared for: Acme Corporation</a:t>
            </a:r>
          </a:p>
          <a:p>
            <a:br>
              <a:rPr dirty="0"/>
            </a:br>
            <a:r>
              <a:rPr sz="1100" b="0" dirty="0">
                <a:solidFill>
                  <a:srgbClr val="D04A02"/>
                </a:solidFill>
                <a:latin typeface="Arial"/>
              </a:rPr>
              <a:t>Timeline: 14 Weeks  |  Target Budget: $250,000</a:t>
            </a:r>
            <a:br>
              <a:rPr dirty="0"/>
            </a:br>
            <a:r>
              <a:rPr dirty="0"/>
              <a:t>Draft Date: July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AE35FC-CAC7-D711-5F7B-A521BFFCE366}"/>
              </a:ext>
            </a:extLst>
          </p:cNvPr>
          <p:cNvSpPr txBox="1"/>
          <p:nvPr/>
        </p:nvSpPr>
        <p:spPr>
          <a:xfrm>
            <a:off x="1510301" y="5229546"/>
            <a:ext cx="625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PPT </a:t>
            </a:r>
            <a:r>
              <a:rPr lang="en-US" dirty="0" err="1">
                <a:solidFill>
                  <a:srgbClr val="FF0000"/>
                </a:solidFill>
              </a:rPr>
              <a:t>te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kono</a:t>
            </a:r>
            <a:r>
              <a:rPr lang="en-US" dirty="0">
                <a:solidFill>
                  <a:srgbClr val="FF0000"/>
                </a:solidFill>
              </a:rPr>
              <a:t> client </a:t>
            </a:r>
            <a:r>
              <a:rPr lang="en-US" dirty="0" err="1">
                <a:solidFill>
                  <a:srgbClr val="FF0000"/>
                </a:solidFill>
              </a:rPr>
              <a:t>ar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nam</a:t>
            </a:r>
            <a:r>
              <a:rPr lang="en-US" dirty="0">
                <a:solidFill>
                  <a:srgbClr val="FF0000"/>
                </a:solidFill>
              </a:rPr>
              <a:t> mention </a:t>
            </a:r>
            <a:r>
              <a:rPr lang="en-US" dirty="0" err="1">
                <a:solidFill>
                  <a:srgbClr val="FF0000"/>
                </a:solidFill>
              </a:rPr>
              <a:t>thakbe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na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 w="1905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Business Summary</a:t>
            </a:r>
          </a:p>
          <a:p>
            <a:r>
              <a:rPr sz="1100" b="0">
                <a:solidFill>
                  <a:srgbClr val="EBA300"/>
                </a:solidFill>
                <a:latin typeface="Arial"/>
              </a:rPr>
              <a:t>Executive overview of the 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D2D2D"/>
                </a:solidFill>
                <a:latin typeface="Arial"/>
              </a:rPr>
              <a:t>PwC Solution Advisory  |  Autonomous Bid Lifecycle Platform  |  AI Draft - For Internal Review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184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400"/>
              </a:spcAft>
            </a:pPr>
            <a:r>
              <a:rPr sz="1400" b="0" dirty="0">
                <a:solidFill>
                  <a:srgbClr val="2D2D2D"/>
                </a:solidFill>
                <a:latin typeface="Arial"/>
              </a:rPr>
              <a:t>This proposal outlines a state-of-the-art solution designed to address your key requirements by leveraging modern cloud and AI capabilities.</a:t>
            </a:r>
          </a:p>
          <a:p>
            <a:pPr>
              <a:spcAft>
                <a:spcPts val="1400"/>
              </a:spcAft>
            </a:pPr>
            <a:r>
              <a:rPr sz="1400" b="0" dirty="0">
                <a:solidFill>
                  <a:srgbClr val="2D2D2D"/>
                </a:solidFill>
                <a:latin typeface="Arial"/>
              </a:rPr>
              <a:t>Our approach ensures scalability, security, and rapid time-to-market, minimizing risks while maximizing operational efficiency.</a:t>
            </a:r>
            <a:br>
              <a:rPr lang="en-US" sz="1400" b="0" dirty="0">
                <a:solidFill>
                  <a:srgbClr val="2D2D2D"/>
                </a:solidFill>
                <a:latin typeface="Arial"/>
              </a:rPr>
            </a:br>
            <a:br>
              <a:rPr lang="en-US" sz="1400" b="0" dirty="0">
                <a:solidFill>
                  <a:srgbClr val="2D2D2D"/>
                </a:solidFill>
                <a:latin typeface="Arial"/>
              </a:rPr>
            </a:br>
            <a:r>
              <a:rPr lang="en-US" sz="1400" dirty="0">
                <a:solidFill>
                  <a:srgbClr val="FF0000"/>
                </a:solidFill>
                <a:latin typeface="Arial"/>
              </a:rPr>
              <a:t>(Business Detail more convenient)</a:t>
            </a:r>
            <a:endParaRPr sz="1400" b="0" dirty="0">
              <a:solidFill>
                <a:srgbClr val="FF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 w="1905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Client Requirements &amp; Gap Analysis</a:t>
            </a:r>
          </a:p>
          <a:p>
            <a:r>
              <a:rPr sz="1100" b="0">
                <a:solidFill>
                  <a:srgbClr val="EBA300"/>
                </a:solidFill>
                <a:latin typeface="Arial"/>
              </a:rPr>
              <a:t>RAG-driven competence matching against RFP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D2D2D"/>
                </a:solidFill>
                <a:latin typeface="Arial"/>
              </a:rPr>
              <a:t>PwC Solution Advisory  |  Autonomous Bid Lifecycle Platform  |  AI Draft - For Internal Review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931920" cy="50292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3749039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D04A02"/>
                </a:solidFill>
                <a:latin typeface="Arial"/>
              </a:rPr>
              <a:t>Key Client Requirements:</a:t>
            </a:r>
          </a:p>
          <a:p>
            <a:r>
              <a:rPr sz="1100" b="0" dirty="0">
                <a:solidFill>
                  <a:srgbClr val="2D2D2D"/>
                </a:solidFill>
                <a:latin typeface="Arial"/>
              </a:rPr>
              <a:t>• Deliver high-performance React front-end application with state management.</a:t>
            </a:r>
          </a:p>
          <a:p>
            <a:r>
              <a:rPr sz="1100" b="0" dirty="0">
                <a:solidFill>
                  <a:srgbClr val="2D2D2D"/>
                </a:solidFill>
                <a:latin typeface="Arial"/>
              </a:rPr>
              <a:t>• Establish secure, authenticated JSON APIs with low latency.</a:t>
            </a:r>
          </a:p>
          <a:p>
            <a:r>
              <a:rPr sz="1100" b="0" dirty="0">
                <a:solidFill>
                  <a:srgbClr val="2D2D2D"/>
                </a:solidFill>
                <a:latin typeface="Arial"/>
              </a:rPr>
              <a:t>• Set up secure containerized database configuration with audit trails.</a:t>
            </a:r>
          </a:p>
          <a:p>
            <a:r>
              <a:rPr sz="1100" b="0" dirty="0">
                <a:solidFill>
                  <a:srgbClr val="2D2D2D"/>
                </a:solidFill>
                <a:latin typeface="Arial"/>
              </a:rPr>
              <a:t>• Implement automated DevOps workflows, CI/CD, and security vulnerability scanning.</a:t>
            </a:r>
          </a:p>
          <a:p>
            <a:r>
              <a:rPr sz="1100" b="0" dirty="0">
                <a:solidFill>
                  <a:srgbClr val="2D2D2D"/>
                </a:solidFill>
                <a:latin typeface="Arial"/>
              </a:rPr>
              <a:t>• Adhere to delivery target timeline.</a:t>
            </a:r>
            <a:br>
              <a:rPr lang="en-US" sz="1100" b="0" dirty="0">
                <a:solidFill>
                  <a:srgbClr val="2D2D2D"/>
                </a:solidFill>
                <a:latin typeface="Arial"/>
              </a:rPr>
            </a:br>
            <a:br>
              <a:rPr lang="en-US" sz="1100" b="0" dirty="0">
                <a:solidFill>
                  <a:srgbClr val="2D2D2D"/>
                </a:solidFill>
                <a:latin typeface="Arial"/>
              </a:rPr>
            </a:br>
            <a:br>
              <a:rPr lang="en-US" sz="1100" b="0" dirty="0">
                <a:solidFill>
                  <a:srgbClr val="2D2D2D"/>
                </a:solidFill>
                <a:latin typeface="Arial"/>
              </a:rPr>
            </a:br>
            <a:br>
              <a:rPr lang="en-US" sz="1100" b="0" dirty="0">
                <a:solidFill>
                  <a:srgbClr val="2D2D2D"/>
                </a:solidFill>
                <a:latin typeface="Arial"/>
              </a:rPr>
            </a:br>
            <a:r>
              <a:rPr lang="en-US" sz="1100" b="0" dirty="0">
                <a:solidFill>
                  <a:srgbClr val="FF0000"/>
                </a:solidFill>
                <a:latin typeface="Arial"/>
              </a:rPr>
              <a:t>(MAKE THE SLIDE INTO SEPARTAE SLIDE)</a:t>
            </a:r>
            <a:br>
              <a:rPr lang="en-US" sz="1100" b="0" dirty="0">
                <a:solidFill>
                  <a:srgbClr val="2D2D2D"/>
                </a:solidFill>
                <a:latin typeface="Arial"/>
              </a:rPr>
            </a:br>
            <a:br>
              <a:rPr lang="en-US" sz="1100" b="0" dirty="0">
                <a:solidFill>
                  <a:srgbClr val="2D2D2D"/>
                </a:solidFill>
                <a:latin typeface="Arial"/>
              </a:rPr>
            </a:br>
            <a:br>
              <a:rPr lang="en-US" sz="1100" b="0" dirty="0">
                <a:solidFill>
                  <a:srgbClr val="2D2D2D"/>
                </a:solidFill>
                <a:latin typeface="Arial"/>
              </a:rPr>
            </a:br>
            <a:br>
              <a:rPr lang="en-US" sz="1100" b="0" dirty="0">
                <a:solidFill>
                  <a:srgbClr val="2D2D2D"/>
                </a:solidFill>
                <a:latin typeface="Arial"/>
              </a:rPr>
            </a:br>
            <a:br>
              <a:rPr lang="en-US" sz="1100" b="0" dirty="0">
                <a:solidFill>
                  <a:srgbClr val="2D2D2D"/>
                </a:solidFill>
                <a:latin typeface="Arial"/>
              </a:rPr>
            </a:br>
            <a:br>
              <a:rPr lang="en-US" sz="1100" b="0" dirty="0">
                <a:solidFill>
                  <a:srgbClr val="2D2D2D"/>
                </a:solidFill>
                <a:latin typeface="Arial"/>
              </a:rPr>
            </a:br>
            <a:br>
              <a:rPr lang="en-US" sz="1100" b="0" dirty="0">
                <a:solidFill>
                  <a:srgbClr val="2D2D2D"/>
                </a:solidFill>
                <a:latin typeface="Arial"/>
              </a:rPr>
            </a:br>
            <a:br>
              <a:rPr lang="en-US" sz="1100" b="0" dirty="0">
                <a:solidFill>
                  <a:srgbClr val="2D2D2D"/>
                </a:solidFill>
                <a:latin typeface="Arial"/>
              </a:rPr>
            </a:br>
            <a:br>
              <a:rPr lang="en-US" sz="1100" b="0" dirty="0">
                <a:solidFill>
                  <a:srgbClr val="2D2D2D"/>
                </a:solidFill>
                <a:latin typeface="Arial"/>
              </a:rPr>
            </a:br>
            <a:endParaRPr sz="1100" b="0" dirty="0">
              <a:solidFill>
                <a:srgbClr val="2D2D2D"/>
              </a:solidFill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931920" cy="50292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0" y="1280160"/>
            <a:ext cx="37490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31F34"/>
                </a:solidFill>
                <a:latin typeface="Arial"/>
              </a:rPr>
              <a:t>Capability Gaps &amp; Mitigations:</a:t>
            </a:r>
          </a:p>
          <a:p>
            <a:r>
              <a:rPr sz="1100" b="0">
                <a:solidFill>
                  <a:srgbClr val="2D2D2D"/>
                </a:solidFill>
                <a:latin typeface="Arial"/>
              </a:rPr>
              <a:t>• Identified gap in Client Requirement: 'Deliver high-performance React front-end application with state management.'. Mitigation: To mitigate our current lack of in-house expertise, we can recruit a specialist contractor experienced in React and state management to ensure the successful delivery of the project.</a:t>
            </a:r>
          </a:p>
          <a:p>
            <a:r>
              <a:rPr sz="1100" b="0">
                <a:solidFill>
                  <a:srgbClr val="2D2D2D"/>
                </a:solidFill>
                <a:latin typeface="Arial"/>
              </a:rPr>
              <a:t>• Identified gap in Client Requirement: 'Establish secure, authenticated JSON APIs with low latency.'. Mitigation: To mitigate our current limitations, we can partner with a specialized API development firm to ensure the delivery of secure, authenticated JSON APIs with low latency.</a:t>
            </a:r>
          </a:p>
          <a:p>
            <a:r>
              <a:rPr sz="1100" b="0">
                <a:solidFill>
                  <a:srgbClr val="2D2D2D"/>
                </a:solidFill>
                <a:latin typeface="Arial"/>
              </a:rPr>
              <a:t>• Identified gap in Client Requirement: 'Set up secure containerized database configuration with audit trails.'. Mitigation: To mitigate our current limitations, we can partner with a specialized third-party vendor who has expertise in containerizing databases and implementing robust audit trail solutions.</a:t>
            </a:r>
          </a:p>
          <a:p>
            <a:r>
              <a:rPr sz="1100" b="0">
                <a:solidFill>
                  <a:srgbClr val="2D2D2D"/>
                </a:solidFill>
                <a:latin typeface="Arial"/>
              </a:rPr>
              <a:t>• Identified gap in Client Requirement: 'Implement automated DevOps workflows, CI/CD, and security vulnerability scanning.'. Mitigation: To mitigate our current lack of in-house expertise, we will recruit a specialist contractor to manage the implementation of these processes.</a:t>
            </a:r>
          </a:p>
          <a:p>
            <a:r>
              <a:rPr sz="1100" b="0">
                <a:solidFill>
                  <a:srgbClr val="2D2D2D"/>
                </a:solidFill>
                <a:latin typeface="Arial"/>
              </a:rPr>
              <a:t>• Identified gap in Client Requirement: 'Adhere to delivery target timeline.'. Mitigation: To mitigate the risk of not meeting the delivery target timeline, we can engage with a third-party logistics provider who specializes in expedited shipping and project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 w="1905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Solution Approach &amp; Architecture</a:t>
            </a:r>
          </a:p>
          <a:p>
            <a:r>
              <a:rPr sz="1100" b="0">
                <a:solidFill>
                  <a:srgbClr val="EBA300"/>
                </a:solidFill>
                <a:latin typeface="Arial"/>
              </a:rPr>
              <a:t>High-level implementation strategy and operational frameworks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D2D2D"/>
                </a:solidFill>
                <a:latin typeface="Arial"/>
              </a:rPr>
              <a:t>PwC Solution Advisory  |  Autonomous Bid Lifecycle Platform  |  AI Draft - For Internal Review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46888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2468880" cy="54864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01. Agentic Orchestrator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  <a:latin typeface="Arial"/>
              </a:rPr>
              <a:t>Implement a stateful multi-agent orchestrator utilizing ReAct patterns to parse proposals asynchronously.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645920"/>
            <a:ext cx="246888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0" y="1645920"/>
            <a:ext cx="2468880" cy="54864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02. Responsive Web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86000"/>
            <a:ext cx="228600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dirty="0">
                <a:solidFill>
                  <a:srgbClr val="2D2D2D"/>
                </a:solidFill>
                <a:latin typeface="Arial"/>
              </a:rPr>
              <a:t>Deliver an intuitive dashboard built with react, offering real-time progress steps and inline document editing.</a:t>
            </a:r>
            <a:br>
              <a:rPr lang="en-US" sz="1100" b="0" dirty="0">
                <a:solidFill>
                  <a:srgbClr val="2D2D2D"/>
                </a:solidFill>
                <a:latin typeface="Arial"/>
              </a:rPr>
            </a:br>
            <a:br>
              <a:rPr lang="en-US" sz="1100" b="0" dirty="0">
                <a:solidFill>
                  <a:srgbClr val="2D2D2D"/>
                </a:solidFill>
                <a:latin typeface="Arial"/>
              </a:rPr>
            </a:br>
            <a:br>
              <a:rPr lang="en-US" sz="1100" b="0" dirty="0">
                <a:solidFill>
                  <a:srgbClr val="2D2D2D"/>
                </a:solidFill>
                <a:latin typeface="Arial"/>
              </a:rPr>
            </a:br>
            <a:br>
              <a:rPr lang="en-US" sz="1100" b="0" dirty="0">
                <a:solidFill>
                  <a:srgbClr val="2D2D2D"/>
                </a:solidFill>
                <a:latin typeface="Arial"/>
              </a:rPr>
            </a:br>
            <a:br>
              <a:rPr lang="en-US" sz="1100" b="0" dirty="0">
                <a:solidFill>
                  <a:srgbClr val="2D2D2D"/>
                </a:solidFill>
                <a:latin typeface="Arial"/>
              </a:rPr>
            </a:br>
            <a:br>
              <a:rPr lang="en-US" sz="1100" b="0" dirty="0">
                <a:solidFill>
                  <a:srgbClr val="2D2D2D"/>
                </a:solidFill>
                <a:latin typeface="Arial"/>
              </a:rPr>
            </a:br>
            <a:br>
              <a:rPr lang="en-US" sz="1100" b="0" dirty="0">
                <a:solidFill>
                  <a:srgbClr val="2D2D2D"/>
                </a:solidFill>
                <a:latin typeface="Arial"/>
              </a:rPr>
            </a:br>
            <a:r>
              <a:rPr lang="en-US" sz="1100" b="0" dirty="0">
                <a:solidFill>
                  <a:srgbClr val="FF0000"/>
                </a:solidFill>
                <a:latin typeface="Arial"/>
              </a:rPr>
              <a:t>(More convenient)</a:t>
            </a:r>
            <a:endParaRPr sz="1100" b="0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246888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645920"/>
            <a:ext cx="2468880" cy="54864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03. Deterministic Presentation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28600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  <a:latin typeface="Arial"/>
              </a:rPr>
              <a:t>Compile agent decisions into a clean JSON IR, and render a pixel-perfect PPTX deck using nestjs.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High Level Design: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112014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7447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1. User securely inputs requirements via React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2174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D04A02"/>
                </a:solidFill>
                <a:latin typeface="Arial"/>
              </a:rPr>
              <a:t>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91739"/>
            <a:ext cx="8229600" cy="112014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868929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2. Orchestrator triggers Python agents to analyze and query Vector DB.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611879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D04A02"/>
                </a:solidFill>
                <a:latin typeface="Arial"/>
              </a:rP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86200"/>
            <a:ext cx="8229600" cy="112014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426339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3. RAG results are synthesized and stored in the core relational database.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00634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D04A02"/>
                </a:solidFill>
                <a:latin typeface="Arial"/>
              </a:rP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280659"/>
            <a:ext cx="8229600" cy="112014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5657849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4. PPTX Generator renders the final proposal for download.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 w="1905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Landscape &amp; Architecture</a:t>
            </a:r>
          </a:p>
          <a:p>
            <a:r>
              <a:rPr sz="1100" b="0">
                <a:solidFill>
                  <a:srgbClr val="EBA300"/>
                </a:solidFill>
                <a:latin typeface="Arial"/>
              </a:rPr>
              <a:t>Reference systems architecture and integration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D2D2D"/>
                </a:solidFill>
                <a:latin typeface="Arial"/>
              </a:rPr>
              <a:t>PwC Solution Advisory  |  Autonomous Bid Lifecycle Platform  |  AI Draft - For Internal Review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8229600" cy="9144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BA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286000" cy="9144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Presentation layer (UI Client)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508760"/>
            <a:ext cx="1691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D2D2D"/>
                </a:solidFill>
                <a:latin typeface="Arial"/>
              </a:rPr>
              <a:t>react SPA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508760"/>
            <a:ext cx="1691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D2D2D"/>
                </a:solidFill>
                <a:latin typeface="Arial"/>
              </a:rPr>
              <a:t>State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508760"/>
            <a:ext cx="1691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D2D2D"/>
                </a:solidFill>
                <a:latin typeface="Arial"/>
              </a:rPr>
              <a:t>Axios Client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60320"/>
            <a:ext cx="8229600" cy="9144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BA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2286000" cy="9144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Application Logic (API Backend)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2697480"/>
            <a:ext cx="1691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D2D2D"/>
                </a:solidFill>
                <a:latin typeface="Arial"/>
              </a:rPr>
              <a:t>nestjs Web 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697480"/>
            <a:ext cx="1691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D2D2D"/>
                </a:solidFill>
                <a:latin typeface="Arial"/>
              </a:rPr>
              <a:t>Agent Control Loop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697480"/>
            <a:ext cx="1691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D2D2D"/>
                </a:solidFill>
                <a:latin typeface="Arial"/>
              </a:rPr>
              <a:t>Auth Middleware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49039"/>
            <a:ext cx="8229600" cy="9144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BA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2286000" cy="9144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Data Integration &amp; Cache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3886199"/>
            <a:ext cx="1691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D2D2D"/>
                </a:solidFill>
                <a:latin typeface="Arial"/>
              </a:rPr>
              <a:t>postgresql Database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3886199"/>
            <a:ext cx="1691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D2D2D"/>
                </a:solidFill>
                <a:latin typeface="Arial"/>
              </a:rPr>
              <a:t>python-pptx Builder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886199"/>
            <a:ext cx="1691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D2D2D"/>
                </a:solidFill>
                <a:latin typeface="Arial"/>
              </a:rPr>
              <a:t>Semantic RAG Store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71C050-A454-2AA5-8A24-17F55267E494}"/>
              </a:ext>
            </a:extLst>
          </p:cNvPr>
          <p:cNvSpPr txBox="1"/>
          <p:nvPr/>
        </p:nvSpPr>
        <p:spPr>
          <a:xfrm>
            <a:off x="889000" y="4979908"/>
            <a:ext cx="8568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Link with arrow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 w="1905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Infrastructure Approximation</a:t>
            </a:r>
          </a:p>
          <a:p>
            <a:r>
              <a:rPr sz="1100" b="0">
                <a:solidFill>
                  <a:srgbClr val="EBA300"/>
                </a:solidFill>
                <a:latin typeface="Arial"/>
              </a:rPr>
              <a:t>Estimated cloud infrastructure components and costs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D2D2D"/>
                </a:solidFill>
                <a:latin typeface="Arial"/>
              </a:rPr>
              <a:t>PwC Solution Advisory  |  Autonomous Bid Lifecycle Platform  |  AI Draft - For Internal Review Only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Specification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Est. Monthly Cost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2D2D"/>
                          </a:solidFill>
                          <a:latin typeface="Arial"/>
                        </a:rPr>
                        <a:t>Application Server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2D2D"/>
                          </a:solidFill>
                          <a:latin typeface="Arial"/>
                        </a:rPr>
                        <a:t>8 vCPU, 32GB RAM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D2D2D"/>
                          </a:solidFill>
                          <a:latin typeface="Arial"/>
                        </a:rPr>
                        <a:t>$250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2D2D"/>
                          </a:solidFill>
                          <a:latin typeface="Arial"/>
                        </a:rPr>
                        <a:t>Relational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2D2D"/>
                          </a:solidFill>
                          <a:latin typeface="Arial"/>
                        </a:rPr>
                        <a:t>Managed PostgreSQL, 100GB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D2D2D"/>
                          </a:solidFill>
                          <a:latin typeface="Arial"/>
                        </a:rPr>
                        <a:t>$150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2D2D"/>
                          </a:solidFill>
                          <a:latin typeface="Arial"/>
                        </a:rPr>
                        <a:t>Vector Database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2D2D"/>
                          </a:solidFill>
                          <a:latin typeface="Arial"/>
                        </a:rPr>
                        <a:t>Managed Qdrant Cluster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D2D2D"/>
                          </a:solidFill>
                          <a:latin typeface="Arial"/>
                        </a:rPr>
                        <a:t>$200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B9691C1-A6A2-6BEB-B4F4-8B1C72931E33}"/>
              </a:ext>
            </a:extLst>
          </p:cNvPr>
          <p:cNvSpPr txBox="1"/>
          <p:nvPr/>
        </p:nvSpPr>
        <p:spPr>
          <a:xfrm>
            <a:off x="1417834" y="4284324"/>
            <a:ext cx="5979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Azure cost calculator use </a:t>
            </a:r>
            <a:r>
              <a:rPr lang="en-US" dirty="0" err="1">
                <a:solidFill>
                  <a:srgbClr val="FF0000"/>
                </a:solidFill>
              </a:rPr>
              <a:t>korte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hobay</a:t>
            </a:r>
            <a:r>
              <a:rPr lang="en-US" dirty="0">
                <a:solidFill>
                  <a:srgbClr val="FF0000"/>
                </a:solidFill>
              </a:rPr>
              <a:t>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(list </a:t>
            </a:r>
            <a:r>
              <a:rPr lang="en-US" dirty="0" err="1">
                <a:solidFill>
                  <a:srgbClr val="FF0000"/>
                </a:solidFill>
              </a:rPr>
              <a:t>korte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hobay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konta</a:t>
            </a:r>
            <a:r>
              <a:rPr lang="en-US" dirty="0">
                <a:solidFill>
                  <a:srgbClr val="FF0000"/>
                </a:solidFill>
              </a:rPr>
              <a:t> use </a:t>
            </a:r>
            <a:r>
              <a:rPr lang="en-US" dirty="0" err="1">
                <a:solidFill>
                  <a:srgbClr val="FF0000"/>
                </a:solidFill>
              </a:rPr>
              <a:t>korle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koto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khorcha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hobay</a:t>
            </a:r>
            <a:r>
              <a:rPr lang="en-US" dirty="0">
                <a:solidFill>
                  <a:srgbClr val="FF0000"/>
                </a:solidFill>
              </a:rPr>
              <a:t> 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 w="1905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Project Timeline</a:t>
            </a:r>
          </a:p>
          <a:p>
            <a:r>
              <a:rPr sz="1100" b="0">
                <a:solidFill>
                  <a:srgbClr val="EBA300"/>
                </a:solidFill>
                <a:latin typeface="Arial"/>
              </a:rPr>
              <a:t>Sequential delivery phases and target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D2D2D"/>
                </a:solidFill>
                <a:latin typeface="Arial"/>
              </a:rPr>
              <a:t>PwC Solution Advisory  |  Autonomous Bid Lifecycle Platform  |  AI Draft - For Internal Review Only</a:t>
            </a:r>
          </a:p>
        </p:txBody>
      </p:sp>
      <p:sp>
        <p:nvSpPr>
          <p:cNvPr id="6" name="Chevron 5"/>
          <p:cNvSpPr/>
          <p:nvPr/>
        </p:nvSpPr>
        <p:spPr>
          <a:xfrm>
            <a:off x="457200" y="1371600"/>
            <a:ext cx="2926080" cy="1188720"/>
          </a:xfrm>
          <a:prstGeom prst="chevron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rial"/>
              </a:rPr>
              <a:t>Design &amp; Planning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371600"/>
            <a:ext cx="5029200" cy="1188720"/>
          </a:xfrm>
          <a:prstGeom prst="rect">
            <a:avLst/>
          </a:prstGeom>
          <a:solidFill>
            <a:srgbClr val="F8F9FA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2D2D2D"/>
                </a:solidFill>
                <a:latin typeface="Arial"/>
              </a:rPr>
              <a:t>Key Deliverables / Activities:</a:t>
            </a:r>
          </a:p>
          <a:p>
            <a:r>
              <a:rPr sz="1000" b="0">
                <a:solidFill>
                  <a:srgbClr val="2D2D2D"/>
                </a:solidFill>
                <a:latin typeface="Arial"/>
              </a:rPr>
              <a:t>Project kickoff, architecture design, database schema, API specifications.</a:t>
            </a:r>
          </a:p>
        </p:txBody>
      </p:sp>
      <p:sp>
        <p:nvSpPr>
          <p:cNvPr id="8" name="Chevron 7"/>
          <p:cNvSpPr/>
          <p:nvPr/>
        </p:nvSpPr>
        <p:spPr>
          <a:xfrm>
            <a:off x="457200" y="2926080"/>
            <a:ext cx="2926080" cy="1188720"/>
          </a:xfrm>
          <a:prstGeom prst="chevron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Development &amp; Testing</a:t>
            </a:r>
          </a:p>
          <a:p>
            <a:pPr algn="ctr"/>
            <a:r>
              <a:rPr sz="1000" b="0">
                <a:solidFill>
                  <a:srgbClr val="EBA300"/>
                </a:solidFill>
                <a:latin typeface="Arial"/>
              </a:rPr>
              <a:t>({'start': 4, 'end': 12})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2926080"/>
            <a:ext cx="5029200" cy="1188720"/>
          </a:xfrm>
          <a:prstGeom prst="rect">
            <a:avLst/>
          </a:prstGeom>
          <a:solidFill>
            <a:srgbClr val="F8F9FA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2D2D2D"/>
                </a:solidFill>
                <a:latin typeface="Arial"/>
              </a:rPr>
              <a:t>Key Deliverables / Activities:</a:t>
            </a:r>
          </a:p>
          <a:p>
            <a:r>
              <a:rPr sz="1000" b="0">
                <a:solidFill>
                  <a:srgbClr val="2D2D2D"/>
                </a:solidFill>
                <a:latin typeface="Arial"/>
              </a:rPr>
              <a:t>Front-end application development, API implementation, database setup, DevOps pipeline creation, unit testing, integration testing.</a:t>
            </a:r>
          </a:p>
        </p:txBody>
      </p:sp>
      <p:sp>
        <p:nvSpPr>
          <p:cNvPr id="10" name="Chevron 9"/>
          <p:cNvSpPr/>
          <p:nvPr/>
        </p:nvSpPr>
        <p:spPr>
          <a:xfrm>
            <a:off x="457200" y="4480560"/>
            <a:ext cx="2926080" cy="1188720"/>
          </a:xfrm>
          <a:prstGeom prst="chevron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rial"/>
              </a:rPr>
              <a:t>Deployment &amp; Training</a:t>
            </a:r>
          </a:p>
          <a:p>
            <a:pPr algn="ctr"/>
            <a:r>
              <a:rPr sz="1000" b="0" dirty="0">
                <a:solidFill>
                  <a:srgbClr val="EBA300"/>
                </a:solidFill>
                <a:latin typeface="Arial"/>
              </a:rPr>
              <a:t>({'start': 13, 'end': 14})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4480560"/>
            <a:ext cx="5029200" cy="1188720"/>
          </a:xfrm>
          <a:prstGeom prst="rect">
            <a:avLst/>
          </a:prstGeom>
          <a:solidFill>
            <a:srgbClr val="F8F9FA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2D2D2D"/>
                </a:solidFill>
                <a:latin typeface="Arial"/>
              </a:rPr>
              <a:t>Key Deliverables / Activities:</a:t>
            </a:r>
          </a:p>
          <a:p>
            <a:r>
              <a:rPr sz="1000" b="0">
                <a:solidFill>
                  <a:srgbClr val="2D2D2D"/>
                </a:solidFill>
                <a:latin typeface="Arial"/>
              </a:rPr>
              <a:t>Final deployment, user training, project handover.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CCC57F-9697-06FE-7AA7-FE1EB9A4BC06}"/>
              </a:ext>
            </a:extLst>
          </p:cNvPr>
          <p:cNvSpPr txBox="1"/>
          <p:nvPr/>
        </p:nvSpPr>
        <p:spPr>
          <a:xfrm>
            <a:off x="1839074" y="5700102"/>
            <a:ext cx="56405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 timeline </a:t>
            </a:r>
            <a:r>
              <a:rPr lang="en-US" dirty="0" err="1"/>
              <a:t>nam</a:t>
            </a:r>
            <a:r>
              <a:rPr lang="en-US" dirty="0"/>
              <a:t> ta change </a:t>
            </a:r>
            <a:r>
              <a:rPr lang="en-US" dirty="0" err="1"/>
              <a:t>hoa</a:t>
            </a:r>
            <a:r>
              <a:rPr lang="en-US" dirty="0"/>
              <a:t> </a:t>
            </a:r>
            <a:r>
              <a:rPr lang="en-US" dirty="0" err="1"/>
              <a:t>hobay</a:t>
            </a:r>
            <a:r>
              <a:rPr lang="en-US" dirty="0"/>
              <a:t> project milestone Development </a:t>
            </a:r>
            <a:r>
              <a:rPr lang="en-US" dirty="0" err="1"/>
              <a:t>ar</a:t>
            </a:r>
            <a:r>
              <a:rPr lang="en-US" dirty="0"/>
              <a:t> testing </a:t>
            </a:r>
            <a:r>
              <a:rPr lang="en-US" dirty="0" err="1"/>
              <a:t>alada</a:t>
            </a:r>
            <a:r>
              <a:rPr lang="en-US" dirty="0"/>
              <a:t> </a:t>
            </a:r>
            <a:r>
              <a:rPr lang="en-US" dirty="0" err="1"/>
              <a:t>hobay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deployment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tranning</a:t>
            </a:r>
            <a:r>
              <a:rPr lang="en-US" dirty="0"/>
              <a:t> </a:t>
            </a:r>
            <a:r>
              <a:rPr lang="en-US" dirty="0" err="1"/>
              <a:t>alada</a:t>
            </a:r>
            <a:r>
              <a:rPr lang="en-US" dirty="0"/>
              <a:t> </a:t>
            </a:r>
            <a:r>
              <a:rPr lang="en-US" dirty="0" err="1"/>
              <a:t>hobay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 w="1905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Similar Projects</a:t>
            </a:r>
          </a:p>
          <a:p>
            <a:r>
              <a:rPr sz="1100" b="0">
                <a:solidFill>
                  <a:srgbClr val="EBA300"/>
                </a:solidFill>
                <a:latin typeface="Arial"/>
              </a:rPr>
              <a:t>Past credentials and successful delivery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D2D2D"/>
                </a:solidFill>
                <a:latin typeface="Arial"/>
              </a:rPr>
              <a:t>PwC Solution Advisory  |  Autonomous Bid Lifecycle Platform  |  AI Draft - For Internal Review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7315200" cy="16459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BA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D04A02"/>
                </a:solidFill>
                <a:latin typeface="Arial"/>
              </a:rPr>
              <a:t>Financial Services | Autonomous Deal Assistant</a:t>
            </a:r>
          </a:p>
          <a:p>
            <a:r>
              <a:rPr sz="1200" b="0">
                <a:solidFill>
                  <a:srgbClr val="2D2D2D"/>
                </a:solidFill>
                <a:latin typeface="Arial"/>
              </a:rPr>
              <a:t>Outcome: Reduced proposal generation time by 40%.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840480"/>
            <a:ext cx="7315200" cy="16459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BA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D04A02"/>
                </a:solidFill>
                <a:latin typeface="Arial"/>
              </a:rPr>
              <a:t>Healthcare | Compliance RAG Engine</a:t>
            </a:r>
          </a:p>
          <a:p>
            <a:r>
              <a:rPr sz="1200" b="0">
                <a:solidFill>
                  <a:srgbClr val="2D2D2D"/>
                </a:solidFill>
                <a:latin typeface="Arial"/>
              </a:rPr>
              <a:t>Outcome: Automated security mapping for 10,00+ documents.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A3D70D-4974-BFF4-FD8F-54A5BB4B922D}"/>
              </a:ext>
            </a:extLst>
          </p:cNvPr>
          <p:cNvSpPr txBox="1"/>
          <p:nvPr/>
        </p:nvSpPr>
        <p:spPr>
          <a:xfrm>
            <a:off x="1808252" y="1140431"/>
            <a:ext cx="5897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Ak </a:t>
            </a:r>
            <a:r>
              <a:rPr lang="en-US" dirty="0" err="1">
                <a:solidFill>
                  <a:srgbClr val="FF0000"/>
                </a:solidFill>
              </a:rPr>
              <a:t>akta</a:t>
            </a:r>
            <a:r>
              <a:rPr lang="en-US" dirty="0">
                <a:solidFill>
                  <a:srgbClr val="FF0000"/>
                </a:solidFill>
              </a:rPr>
              <a:t> project </a:t>
            </a:r>
            <a:r>
              <a:rPr lang="en-US" dirty="0" err="1">
                <a:solidFill>
                  <a:srgbClr val="FF0000"/>
                </a:solidFill>
              </a:rPr>
              <a:t>ar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jonno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akta</a:t>
            </a:r>
            <a:r>
              <a:rPr lang="en-US" dirty="0">
                <a:solidFill>
                  <a:srgbClr val="FF0000"/>
                </a:solidFill>
              </a:rPr>
              <a:t> slide (</a:t>
            </a:r>
            <a:r>
              <a:rPr lang="en-US" dirty="0" err="1">
                <a:solidFill>
                  <a:srgbClr val="FF0000"/>
                </a:solidFill>
              </a:rPr>
              <a:t>Similer</a:t>
            </a:r>
            <a:r>
              <a:rPr lang="en-US" dirty="0">
                <a:solidFill>
                  <a:srgbClr val="FF0000"/>
                </a:solidFill>
              </a:rPr>
              <a:t> project )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Slide </a:t>
            </a:r>
            <a:r>
              <a:rPr lang="en-US" dirty="0" err="1">
                <a:solidFill>
                  <a:srgbClr val="FF0000"/>
                </a:solidFill>
              </a:rPr>
              <a:t>ar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nam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hobay</a:t>
            </a:r>
            <a:r>
              <a:rPr lang="en-US" dirty="0">
                <a:solidFill>
                  <a:srgbClr val="FF0000"/>
                </a:solidFill>
              </a:rPr>
              <a:t> case study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 w="1905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Effort &amp; Person-Hour Conversion</a:t>
            </a:r>
          </a:p>
          <a:p>
            <a:r>
              <a:rPr sz="1100" b="0">
                <a:solidFill>
                  <a:srgbClr val="EBA300"/>
                </a:solidFill>
                <a:latin typeface="Arial"/>
              </a:rPr>
              <a:t>Allocated program FTE structure, rate cards, and financial sizing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D2D2D"/>
                </a:solidFill>
                <a:latin typeface="Arial"/>
              </a:rPr>
              <a:t>PwC Solution Advisory  |  Autonomous Bid Lifecycle Platform  |  AI Draft - For Internal Review Only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646484"/>
              </p:ext>
            </p:extLst>
          </p:nvPr>
        </p:nvGraphicFramePr>
        <p:xfrm>
          <a:off x="457200" y="137160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Role / Competency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</a:rPr>
                        <a:t>FTE Count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Hourly  Rate</a:t>
                      </a:r>
                      <a:endParaRPr sz="11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</a:rPr>
                        <a:t>Person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 hour</a:t>
                      </a:r>
                      <a:endParaRPr sz="11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Total Financial Sizing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Arial"/>
                        </a:rPr>
                        <a:t>Project Manager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D2D2D"/>
                          </a:solidFill>
                          <a:latin typeface="Arial"/>
                        </a:rPr>
                        <a:t>Onsite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0.50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$13,189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D2D2D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$23,081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Arial"/>
                        </a:rPr>
                        <a:t>React Developer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Hybrid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$22,875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$80,063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Arial"/>
                        </a:rPr>
                        <a:t>Back-end Developer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Offshore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$18,465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$64,627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Arial"/>
                        </a:rPr>
                        <a:t>DevOps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Hybrid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$22,669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$59,506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Arial"/>
                        </a:rPr>
                        <a:t>Database Administrator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Offshore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0.50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$12,983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D2D2D"/>
                          </a:solidFill>
                          <a:latin typeface="Arial"/>
                        </a:rPr>
                        <a:t>$22,720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EE832A8-A19F-8E42-6298-122D306150B7}"/>
              </a:ext>
            </a:extLst>
          </p:cNvPr>
          <p:cNvSpPr txBox="1"/>
          <p:nvPr/>
        </p:nvSpPr>
        <p:spPr>
          <a:xfrm>
            <a:off x="729465" y="4068566"/>
            <a:ext cx="795733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On site </a:t>
            </a:r>
            <a:r>
              <a:rPr lang="en-US" dirty="0" err="1">
                <a:solidFill>
                  <a:srgbClr val="FF0000"/>
                </a:solidFill>
              </a:rPr>
              <a:t>ar</a:t>
            </a:r>
            <a:r>
              <a:rPr lang="en-US" dirty="0">
                <a:solidFill>
                  <a:srgbClr val="FF0000"/>
                </a:solidFill>
              </a:rPr>
              <a:t> column ta remove </a:t>
            </a:r>
            <a:r>
              <a:rPr lang="en-US" dirty="0" err="1">
                <a:solidFill>
                  <a:srgbClr val="FF0000"/>
                </a:solidFill>
              </a:rPr>
              <a:t>hobay</a:t>
            </a:r>
            <a:br>
              <a:rPr lang="en-US" dirty="0">
                <a:solidFill>
                  <a:srgbClr val="FF0000"/>
                </a:solidFill>
              </a:rPr>
            </a:br>
            <a:br>
              <a:rPr lang="en-US" dirty="0">
                <a:solidFill>
                  <a:srgbClr val="FF0000"/>
                </a:solidFill>
              </a:rPr>
            </a:b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user </a:t>
            </a:r>
            <a:r>
              <a:rPr lang="en-US" dirty="0" err="1">
                <a:solidFill>
                  <a:srgbClr val="FF0000"/>
                </a:solidFill>
              </a:rPr>
              <a:t>ar</a:t>
            </a:r>
            <a:r>
              <a:rPr lang="en-US" dirty="0">
                <a:solidFill>
                  <a:srgbClr val="FF0000"/>
                </a:solidFill>
              </a:rPr>
              <a:t> ka6 input </a:t>
            </a:r>
            <a:r>
              <a:rPr lang="en-US" dirty="0" err="1">
                <a:solidFill>
                  <a:srgbClr val="FF0000"/>
                </a:solidFill>
              </a:rPr>
              <a:t>dite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hobay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kota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lok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kothay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jabe</a:t>
            </a:r>
            <a:r>
              <a:rPr lang="en-US" dirty="0">
                <a:solidFill>
                  <a:srgbClr val="FF0000"/>
                </a:solidFill>
              </a:rPr>
              <a:t>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 err="1">
                <a:solidFill>
                  <a:srgbClr val="FF0000"/>
                </a:solidFill>
              </a:rPr>
              <a:t>ar</a:t>
            </a:r>
            <a:r>
              <a:rPr lang="en-US" dirty="0">
                <a:solidFill>
                  <a:srgbClr val="FF0000"/>
                </a:solidFill>
              </a:rPr>
              <a:t> rate </a:t>
            </a:r>
            <a:r>
              <a:rPr lang="en-US" dirty="0" err="1">
                <a:solidFill>
                  <a:srgbClr val="FF0000"/>
                </a:solidFill>
              </a:rPr>
              <a:t>ar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oo</a:t>
            </a:r>
            <a:r>
              <a:rPr lang="en-US" dirty="0">
                <a:solidFill>
                  <a:srgbClr val="FF0000"/>
                </a:solidFill>
              </a:rPr>
              <a:t> input </a:t>
            </a:r>
            <a:r>
              <a:rPr lang="en-US" dirty="0" err="1">
                <a:solidFill>
                  <a:srgbClr val="FF0000"/>
                </a:solidFill>
              </a:rPr>
              <a:t>dite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parbe</a:t>
            </a:r>
            <a:r>
              <a:rPr lang="en-US" dirty="0">
                <a:solidFill>
                  <a:srgbClr val="FF0000"/>
                </a:solidFill>
              </a:rPr>
              <a:t>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Total </a:t>
            </a:r>
            <a:r>
              <a:rPr lang="en-US" dirty="0" err="1">
                <a:solidFill>
                  <a:srgbClr val="FF0000"/>
                </a:solidFill>
              </a:rPr>
              <a:t>asumtion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tao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dite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hoaby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Hourly rate </a:t>
            </a:r>
            <a:r>
              <a:rPr lang="en-US" dirty="0" err="1">
                <a:solidFill>
                  <a:srgbClr val="FF0000"/>
                </a:solidFill>
              </a:rPr>
              <a:t>ar</a:t>
            </a:r>
            <a:r>
              <a:rPr lang="en-US" dirty="0">
                <a:solidFill>
                  <a:srgbClr val="FF0000"/>
                </a:solidFill>
              </a:rPr>
              <a:t> total ta bara </a:t>
            </a:r>
            <a:r>
              <a:rPr lang="en-US" dirty="0" err="1">
                <a:solidFill>
                  <a:srgbClr val="FF0000"/>
                </a:solidFill>
              </a:rPr>
              <a:t>korte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hobay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 w="1905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Skills Inventory &amp; PwC Competency Mapping</a:t>
            </a:r>
          </a:p>
          <a:p>
            <a:r>
              <a:rPr sz="1100" b="0">
                <a:solidFill>
                  <a:srgbClr val="EBA300"/>
                </a:solidFill>
                <a:latin typeface="Arial"/>
              </a:rPr>
              <a:t>Required technical capabilities grounded in organizational assets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D2D2D"/>
                </a:solidFill>
                <a:latin typeface="Arial"/>
              </a:rPr>
              <a:t>PwC Solution Advisory  |  Autonomous Bid Lifecycle Platform  |  AI Draft - For Internal Review Only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Technical Skill</a:t>
                      </a:r>
                    </a:p>
                  </a:txBody>
                  <a:tcPr>
                    <a:solidFill>
                      <a:srgbClr val="D04A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Target Project Role</a:t>
                      </a:r>
                    </a:p>
                  </a:txBody>
                  <a:tcPr>
                    <a:solidFill>
                      <a:srgbClr val="D04A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</a:rPr>
                        <a:t>Associated PwC Asset / Capability Team</a:t>
                      </a:r>
                    </a:p>
                  </a:txBody>
                  <a:tcPr>
                    <a:solidFill>
                      <a:srgbClr val="D04A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</a:rPr>
                        <a:t>Fit Confidence</a:t>
                      </a:r>
                    </a:p>
                  </a:txBody>
                  <a:tcPr>
                    <a:solidFill>
                      <a:srgbClr val="D04A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Arial"/>
                        </a:rPr>
                        <a:t>React.js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React Developer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Front-end Development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D2D2D"/>
                          </a:solidFill>
                          <a:latin typeface="Arial"/>
                        </a:rPr>
                        <a:t>95%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Arial"/>
                        </a:rPr>
                        <a:t>Node.js/Express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Back-end Developer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Back-end 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Arial"/>
                        </a:rPr>
                        <a:t>Docker/Kubernetes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DevOps Engineer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Cloud &amp; DevOps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Arial"/>
                        </a:rPr>
                        <a:t>CI/CD Pipelines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DevOps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Cloud &amp; DevOps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Arial"/>
                        </a:rPr>
                        <a:t>Database Management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Database Administrator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Data Management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D2D2D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DC5D9C2-5DB9-4E33-7762-46231CD86291}"/>
              </a:ext>
            </a:extLst>
          </p:cNvPr>
          <p:cNvSpPr txBox="1"/>
          <p:nvPr/>
        </p:nvSpPr>
        <p:spPr>
          <a:xfrm>
            <a:off x="1017142" y="4099389"/>
            <a:ext cx="64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Fit confidence ta orate </a:t>
            </a:r>
            <a:r>
              <a:rPr lang="en-US" dirty="0" err="1">
                <a:solidFill>
                  <a:srgbClr val="FF0000"/>
                </a:solidFill>
              </a:rPr>
              <a:t>hobay</a:t>
            </a:r>
            <a:r>
              <a:rPr lang="en-US" dirty="0">
                <a:solidFill>
                  <a:srgbClr val="FF0000"/>
                </a:solidFill>
              </a:rPr>
              <a:t> (check box </a:t>
            </a:r>
            <a:r>
              <a:rPr lang="en-US" dirty="0" err="1">
                <a:solidFill>
                  <a:srgbClr val="FF0000"/>
                </a:solidFill>
              </a:rPr>
              <a:t>rakte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hobay</a:t>
            </a:r>
            <a:r>
              <a:rPr lang="en-US" dirty="0">
                <a:solidFill>
                  <a:srgbClr val="FF0000"/>
                </a:solidFill>
              </a:rPr>
              <a:t>)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  <a:latin typeface="Arial"/>
              </a:rPr>
              <a:t>Associated PwC Asset / Capability Team column ta </a:t>
            </a:r>
            <a:r>
              <a:rPr lang="en-US" b="1" dirty="0" err="1">
                <a:solidFill>
                  <a:srgbClr val="FF0000"/>
                </a:solidFill>
                <a:latin typeface="Arial"/>
              </a:rPr>
              <a:t>ora</a:t>
            </a:r>
            <a:r>
              <a:rPr lang="en-US" b="1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Arial"/>
              </a:rPr>
              <a:t>te</a:t>
            </a:r>
            <a:r>
              <a:rPr lang="en-US" b="1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Arial"/>
              </a:rPr>
              <a:t>hoaby</a:t>
            </a:r>
            <a:endParaRPr lang="en-US" b="1" dirty="0">
              <a:solidFill>
                <a:srgbClr val="FF0000"/>
              </a:solidFill>
              <a:latin typeface="Arial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 w="1905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Reference Architecture</a:t>
            </a:r>
          </a:p>
          <a:p>
            <a:r>
              <a:rPr sz="1100" b="0">
                <a:solidFill>
                  <a:srgbClr val="EBA300"/>
                </a:solidFill>
                <a:latin typeface="Arial"/>
              </a:rPr>
              <a:t>Enterprise logical data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D2D2D"/>
                </a:solidFill>
                <a:latin typeface="Arial"/>
              </a:rPr>
              <a:t>PwC Solution Advisory  |  Autonomous Bid Lifecycle Platform  |  AI Draft - For Internal Review 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188720"/>
            <a:ext cx="4114800" cy="3108960"/>
          </a:xfrm>
          <a:prstGeom prst="rect">
            <a:avLst/>
          </a:prstGeom>
          <a:solidFill>
            <a:srgbClr val="EEF7E9"/>
          </a:solidFill>
          <a:ln>
            <a:solidFill>
              <a:srgbClr val="C8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800" b="1">
                <a:solidFill>
                  <a:srgbClr val="2D2D2D"/>
                </a:solidFill>
                <a:latin typeface="Arial"/>
              </a:rPr>
              <a:t>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4389120"/>
            <a:ext cx="4114800" cy="18288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800" b="1">
                <a:solidFill>
                  <a:srgbClr val="2D2D2D"/>
                </a:solidFill>
                <a:latin typeface="Arial"/>
              </a:rPr>
              <a:t>ON-PREM (Optional)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1887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D2D2D"/>
                </a:solidFill>
                <a:latin typeface="Arial"/>
              </a:rPr>
              <a:t>External Data</a:t>
            </a:r>
            <a:br/>
            <a:r>
              <a:t>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3891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D2D2D"/>
                </a:solidFill>
                <a:latin typeface="Arial"/>
              </a:rPr>
              <a:t>Internal Data</a:t>
            </a:r>
            <a:br/>
            <a:r>
              <a:t>Sources</a:t>
            </a:r>
          </a:p>
        </p:txBody>
      </p:sp>
      <p:sp>
        <p:nvSpPr>
          <p:cNvPr id="11" name="Can 10"/>
          <p:cNvSpPr/>
          <p:nvPr/>
        </p:nvSpPr>
        <p:spPr>
          <a:xfrm>
            <a:off x="548640" y="1828800"/>
            <a:ext cx="640080" cy="731520"/>
          </a:xfrm>
          <a:prstGeom prst="can">
            <a:avLst/>
          </a:prstGeom>
          <a:solidFill>
            <a:srgbClr val="FFFFFF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86000" y="1463040"/>
            <a:ext cx="118872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6000" y="14630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D2D2D"/>
                </a:solidFill>
                <a:latin typeface="Arial"/>
              </a:rPr>
              <a:t>RAW DATA ZONE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6517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2D2D2D"/>
                </a:solidFill>
                <a:latin typeface="Arial"/>
              </a:rPr>
              <a:t>Object Storage</a:t>
            </a:r>
          </a:p>
        </p:txBody>
      </p:sp>
      <p:sp>
        <p:nvSpPr>
          <p:cNvPr id="15" name="Can 14"/>
          <p:cNvSpPr/>
          <p:nvPr/>
        </p:nvSpPr>
        <p:spPr>
          <a:xfrm>
            <a:off x="2560320" y="1828800"/>
            <a:ext cx="640080" cy="731520"/>
          </a:xfrm>
          <a:prstGeom prst="can">
            <a:avLst/>
          </a:prstGeom>
          <a:solidFill>
            <a:srgbClr val="FFFFFF"/>
          </a:solidFill>
          <a:ln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2D2D2D"/>
                </a:solidFill>
                <a:latin typeface="Arial"/>
              </a:rPr>
              <a:t>Raw DB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1463040"/>
            <a:ext cx="118872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0" y="14630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D2D2D"/>
                </a:solidFill>
                <a:latin typeface="Arial"/>
              </a:rPr>
              <a:t>CURATED ZONE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6517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2D2D2D"/>
                </a:solidFill>
                <a:latin typeface="Arial"/>
              </a:rPr>
              <a:t>Object Storage</a:t>
            </a:r>
          </a:p>
        </p:txBody>
      </p:sp>
      <p:sp>
        <p:nvSpPr>
          <p:cNvPr id="19" name="Can 18"/>
          <p:cNvSpPr/>
          <p:nvPr/>
        </p:nvSpPr>
        <p:spPr>
          <a:xfrm>
            <a:off x="3931920" y="1828800"/>
            <a:ext cx="640080" cy="731520"/>
          </a:xfrm>
          <a:prstGeom prst="can">
            <a:avLst/>
          </a:prstGeom>
          <a:solidFill>
            <a:srgbClr val="FFFFFF"/>
          </a:solidFill>
          <a:ln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2D2D2D"/>
                </a:solidFill>
                <a:latin typeface="Arial"/>
              </a:rPr>
              <a:t>Curated DB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1463040"/>
            <a:ext cx="822960" cy="2651760"/>
          </a:xfrm>
          <a:prstGeom prst="rect">
            <a:avLst/>
          </a:prstGeom>
          <a:solidFill>
            <a:srgbClr val="FAFA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0" y="14630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D2D2D"/>
                </a:solidFill>
                <a:latin typeface="Arial"/>
              </a:rPr>
              <a:t>DATAMARTS</a:t>
            </a:r>
          </a:p>
        </p:txBody>
      </p:sp>
      <p:sp>
        <p:nvSpPr>
          <p:cNvPr id="22" name="Can 21"/>
          <p:cNvSpPr/>
          <p:nvPr/>
        </p:nvSpPr>
        <p:spPr>
          <a:xfrm>
            <a:off x="5303520" y="1828800"/>
            <a:ext cx="457200" cy="548640"/>
          </a:xfrm>
          <a:prstGeom prst="can">
            <a:avLst/>
          </a:prstGeom>
          <a:solidFill>
            <a:srgbClr val="FFFFFF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an 22"/>
          <p:cNvSpPr/>
          <p:nvPr/>
        </p:nvSpPr>
        <p:spPr>
          <a:xfrm>
            <a:off x="5303520" y="2560320"/>
            <a:ext cx="457200" cy="548640"/>
          </a:xfrm>
          <a:prstGeom prst="can">
            <a:avLst/>
          </a:prstGeom>
          <a:solidFill>
            <a:srgbClr val="FFFFFF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an 23"/>
          <p:cNvSpPr/>
          <p:nvPr/>
        </p:nvSpPr>
        <p:spPr>
          <a:xfrm>
            <a:off x="5303520" y="3291840"/>
            <a:ext cx="457200" cy="548640"/>
          </a:xfrm>
          <a:prstGeom prst="can">
            <a:avLst/>
          </a:prstGeom>
          <a:solidFill>
            <a:srgbClr val="FFFFFF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Arrow 24"/>
          <p:cNvSpPr/>
          <p:nvPr/>
        </p:nvSpPr>
        <p:spPr>
          <a:xfrm>
            <a:off x="1280160" y="2194560"/>
            <a:ext cx="914400" cy="1371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ght Arrow 25"/>
          <p:cNvSpPr/>
          <p:nvPr/>
        </p:nvSpPr>
        <p:spPr>
          <a:xfrm>
            <a:off x="1280160" y="4572000"/>
            <a:ext cx="914400" cy="1371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ight Arrow 26"/>
          <p:cNvSpPr/>
          <p:nvPr/>
        </p:nvSpPr>
        <p:spPr>
          <a:xfrm>
            <a:off x="3474720" y="2194560"/>
            <a:ext cx="182880" cy="1371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ight Arrow 27"/>
          <p:cNvSpPr/>
          <p:nvPr/>
        </p:nvSpPr>
        <p:spPr>
          <a:xfrm>
            <a:off x="4846320" y="2194560"/>
            <a:ext cx="274320" cy="1371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ight Arrow 28"/>
          <p:cNvSpPr/>
          <p:nvPr/>
        </p:nvSpPr>
        <p:spPr>
          <a:xfrm>
            <a:off x="5943600" y="2194560"/>
            <a:ext cx="457200" cy="1371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D2D2D"/>
                </a:solidFill>
                <a:latin typeface="Arial"/>
              </a:rPr>
              <a:t>Use Cases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1645920"/>
            <a:ext cx="1097280" cy="548640"/>
          </a:xfrm>
          <a:prstGeom prst="rect">
            <a:avLst/>
          </a:prstGeom>
          <a:solidFill>
            <a:srgbClr val="F5FA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2D2D2D"/>
                </a:solidFill>
                <a:latin typeface="Arial"/>
              </a:rPr>
              <a:t>Cloud API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1645920"/>
            <a:ext cx="1097280" cy="548640"/>
          </a:xfrm>
          <a:prstGeom prst="rect">
            <a:avLst/>
          </a:prstGeom>
          <a:solidFill>
            <a:srgbClr val="F5FA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2D2D2D"/>
                </a:solidFill>
                <a:latin typeface="Arial"/>
              </a:rPr>
              <a:t>Data &amp; service exchange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377440"/>
            <a:ext cx="1097280" cy="548640"/>
          </a:xfrm>
          <a:prstGeom prst="rect">
            <a:avLst/>
          </a:prstGeom>
          <a:solidFill>
            <a:srgbClr val="F5FA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2D2D2D"/>
                </a:solidFill>
                <a:latin typeface="Arial"/>
              </a:rPr>
              <a:t>Advanced Analytics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2377440"/>
            <a:ext cx="1097280" cy="548640"/>
          </a:xfrm>
          <a:prstGeom prst="rect">
            <a:avLst/>
          </a:prstGeom>
          <a:solidFill>
            <a:srgbClr val="F5FA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2D2D2D"/>
                </a:solidFill>
                <a:latin typeface="Arial"/>
              </a:rPr>
              <a:t>IoT Apps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108960"/>
            <a:ext cx="1097280" cy="548640"/>
          </a:xfrm>
          <a:prstGeom prst="rect">
            <a:avLst/>
          </a:prstGeom>
          <a:solidFill>
            <a:srgbClr val="F5FA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2D2D2D"/>
                </a:solidFill>
                <a:latin typeface="Arial"/>
              </a:rPr>
              <a:t>Business Intelligence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3108960"/>
            <a:ext cx="1097280" cy="548640"/>
          </a:xfrm>
          <a:prstGeom prst="rect">
            <a:avLst/>
          </a:prstGeom>
          <a:solidFill>
            <a:srgbClr val="F5FA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2D2D2D"/>
                </a:solidFill>
                <a:latin typeface="Arial"/>
              </a:rPr>
              <a:t>3rd Party Apps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 w="1905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Landscape Architecture (Azure Cloud Platform)</a:t>
            </a:r>
          </a:p>
          <a:p>
            <a:r>
              <a:rPr sz="1100" b="0">
                <a:solidFill>
                  <a:srgbClr val="EBA300"/>
                </a:solidFill>
                <a:latin typeface="Arial"/>
              </a:rPr>
              <a:t>Azure Native Services &amp; Integration Topology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D2D2D"/>
                </a:solidFill>
                <a:latin typeface="Arial"/>
              </a:rPr>
              <a:t>PwC Solution Advisory  |  Autonomous Bid Lifecycle Platform  |  AI Draft - For Internal Review Only</a:t>
            </a:r>
          </a:p>
        </p:txBody>
      </p:sp>
      <p:sp>
        <p:nvSpPr>
          <p:cNvPr id="7" name="Can 6"/>
          <p:cNvSpPr/>
          <p:nvPr/>
        </p:nvSpPr>
        <p:spPr>
          <a:xfrm>
            <a:off x="457200" y="1645920"/>
            <a:ext cx="914400" cy="914400"/>
          </a:xfrm>
          <a:prstGeom prst="can">
            <a:avLst/>
          </a:prstGeom>
          <a:solidFill>
            <a:srgbClr val="FFFFFF"/>
          </a:solidFill>
          <a:ln>
            <a:solidFill>
              <a:srgbClr val="007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D2D2D"/>
                </a:solidFill>
                <a:latin typeface="Arial"/>
              </a:rPr>
              <a:t>SAP HANA</a:t>
            </a:r>
          </a:p>
        </p:txBody>
      </p:sp>
      <p:sp>
        <p:nvSpPr>
          <p:cNvPr id="8" name="Can 7"/>
          <p:cNvSpPr/>
          <p:nvPr/>
        </p:nvSpPr>
        <p:spPr>
          <a:xfrm>
            <a:off x="457200" y="2926080"/>
            <a:ext cx="914400" cy="914400"/>
          </a:xfrm>
          <a:prstGeom prst="can">
            <a:avLst/>
          </a:prstGeom>
          <a:solidFill>
            <a:srgbClr val="FFFFFF"/>
          </a:solidFill>
          <a:ln>
            <a:solidFill>
              <a:srgbClr val="007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D2D2D"/>
                </a:solidFill>
                <a:latin typeface="Arial"/>
              </a:rPr>
              <a:t>SAP Ariba</a:t>
            </a:r>
          </a:p>
        </p:txBody>
      </p:sp>
      <p:sp>
        <p:nvSpPr>
          <p:cNvPr id="9" name="Can 8"/>
          <p:cNvSpPr/>
          <p:nvPr/>
        </p:nvSpPr>
        <p:spPr>
          <a:xfrm>
            <a:off x="457200" y="4206240"/>
            <a:ext cx="914400" cy="914400"/>
          </a:xfrm>
          <a:prstGeom prst="can">
            <a:avLst/>
          </a:prstGeom>
          <a:solidFill>
            <a:srgbClr val="FFFFFF"/>
          </a:solidFill>
          <a:ln>
            <a:solidFill>
              <a:srgbClr val="007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D2D2D"/>
                </a:solidFill>
                <a:latin typeface="Arial"/>
              </a:rPr>
              <a:t>Digital Apps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1371600"/>
            <a:ext cx="201168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0072C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03120" y="33832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dirty="0">
                <a:solidFill>
                  <a:srgbClr val="2D2D2D"/>
                </a:solidFill>
                <a:latin typeface="Arial"/>
              </a:rPr>
              <a:t>ELT/Orchestration Tool</a:t>
            </a:r>
          </a:p>
        </p:txBody>
      </p:sp>
      <p:sp>
        <p:nvSpPr>
          <p:cNvPr id="12" name="Cloud 11"/>
          <p:cNvSpPr/>
          <p:nvPr/>
        </p:nvSpPr>
        <p:spPr>
          <a:xfrm>
            <a:off x="2560320" y="1645920"/>
            <a:ext cx="1097280" cy="822960"/>
          </a:xfrm>
          <a:prstGeom prst="cloud">
            <a:avLst/>
          </a:prstGeom>
          <a:solidFill>
            <a:srgbClr val="0072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ADF</a:t>
            </a:r>
          </a:p>
        </p:txBody>
      </p:sp>
      <p:sp>
        <p:nvSpPr>
          <p:cNvPr id="13" name="Can 12"/>
          <p:cNvSpPr/>
          <p:nvPr/>
        </p:nvSpPr>
        <p:spPr>
          <a:xfrm>
            <a:off x="4754880" y="1097280"/>
            <a:ext cx="1097280" cy="1097280"/>
          </a:xfrm>
          <a:prstGeom prst="can">
            <a:avLst/>
          </a:prstGeom>
          <a:solidFill>
            <a:srgbClr val="FFFFFF"/>
          </a:solidFill>
          <a:ln>
            <a:solidFill>
              <a:srgbClr val="007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137160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D2D2D"/>
                </a:solidFill>
                <a:latin typeface="Arial"/>
              </a:rPr>
              <a:t>SQL Server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6217920" y="2011680"/>
            <a:ext cx="2286000" cy="3200400"/>
          </a:xfrm>
          <a:prstGeom prst="triangle">
            <a:avLst/>
          </a:prstGeom>
          <a:solidFill>
            <a:srgbClr val="DCEBFA"/>
          </a:solidFill>
          <a:ln>
            <a:solidFill>
              <a:srgbClr val="007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292608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D2D2D"/>
                </a:solidFill>
                <a:latin typeface="Arial"/>
              </a:rPr>
              <a:t>Reporting Layer</a:t>
            </a:r>
            <a:br/>
            <a:br/>
            <a:r>
              <a:t>Common Data</a:t>
            </a:r>
            <a:br/>
            <a:br/>
            <a:r>
              <a:t>RAW 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1371600"/>
            <a:ext cx="1371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79" y="146304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D2D2D"/>
                </a:solidFill>
                <a:latin typeface="Arial"/>
              </a:rPr>
              <a:t>+ tableau</a:t>
            </a:r>
            <a:br/>
            <a:br/>
            <a:r>
              <a:t>Reporting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371600" y="2103120"/>
            <a:ext cx="731520" cy="1371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ght Arrow 19"/>
          <p:cNvSpPr/>
          <p:nvPr/>
        </p:nvSpPr>
        <p:spPr>
          <a:xfrm>
            <a:off x="1371600" y="3383280"/>
            <a:ext cx="731520" cy="1371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20"/>
          <p:cNvSpPr/>
          <p:nvPr/>
        </p:nvSpPr>
        <p:spPr>
          <a:xfrm>
            <a:off x="1371600" y="4663440"/>
            <a:ext cx="731520" cy="1371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Arrow 21"/>
          <p:cNvSpPr/>
          <p:nvPr/>
        </p:nvSpPr>
        <p:spPr>
          <a:xfrm>
            <a:off x="4114800" y="2651760"/>
            <a:ext cx="2011680" cy="1371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4114800" y="1645920"/>
            <a:ext cx="640080" cy="1371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ight Arrow 23"/>
          <p:cNvSpPr/>
          <p:nvPr/>
        </p:nvSpPr>
        <p:spPr>
          <a:xfrm>
            <a:off x="5852160" y="2011680"/>
            <a:ext cx="548640" cy="1371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Arrow 24"/>
          <p:cNvSpPr/>
          <p:nvPr/>
        </p:nvSpPr>
        <p:spPr>
          <a:xfrm>
            <a:off x="8229600" y="2377440"/>
            <a:ext cx="457200" cy="1371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0" y="5486400"/>
            <a:ext cx="2011680" cy="1097280"/>
          </a:xfrm>
          <a:prstGeom prst="rect">
            <a:avLst/>
          </a:prstGeom>
          <a:solidFill>
            <a:srgbClr val="FAF0E6"/>
          </a:solidFill>
          <a:ln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0">
                <a:solidFill>
                  <a:srgbClr val="2D2D2D"/>
                </a:solidFill>
                <a:latin typeface="Arial"/>
              </a:rPr>
              <a:t>Legend</a:t>
            </a:r>
            <a:br/>
            <a:r>
              <a:t>Daily</a:t>
            </a:r>
            <a:br/>
            <a:r>
              <a:t>3 hours Batch</a:t>
            </a:r>
            <a:br/>
            <a:r>
              <a:t>One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1324</Words>
  <Application>Microsoft Office PowerPoint</Application>
  <PresentationFormat>On-screen Show (4:3)</PresentationFormat>
  <Paragraphs>199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Anirban Pal</cp:lastModifiedBy>
  <cp:revision>2</cp:revision>
  <dcterms:created xsi:type="dcterms:W3CDTF">2013-01-27T09:14:16Z</dcterms:created>
  <dcterms:modified xsi:type="dcterms:W3CDTF">2026-07-24T11:07:50Z</dcterms:modified>
  <cp:category/>
</cp:coreProperties>
</file>