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0"/>
            <a:ext cx="91440" cy="685800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0"/>
            <a:ext cx="3200400" cy="2743200"/>
          </a:xfrm>
          <a:prstGeom prst="rect">
            <a:avLst/>
          </a:prstGeom>
          <a:noFill/>
        </p:spPr>
        <p:txBody>
          <a:bodyPr wrap="square">
            <a:spAutoFit/>
          </a:bodyPr>
          <a:lstStyle/>
          <a:p>
            <a:r>
              <a:rPr sz="3200" b="1" i="0">
                <a:solidFill>
                  <a:srgbClr val="FFFFFF"/>
                </a:solidFill>
                <a:latin typeface="Arial"/>
              </a:rPr>
              <a:t>Autonomous Proposal Document Creator Platform</a:t>
            </a:r>
          </a:p>
        </p:txBody>
      </p:sp>
      <p:sp>
        <p:nvSpPr>
          <p:cNvPr id="6" name="TextBox 5"/>
          <p:cNvSpPr txBox="1"/>
          <p:nvPr/>
        </p:nvSpPr>
        <p:spPr>
          <a:xfrm>
            <a:off x="4572000" y="2743200"/>
            <a:ext cx="4114800" cy="1828800"/>
          </a:xfrm>
          <a:prstGeom prst="rect">
            <a:avLst/>
          </a:prstGeom>
          <a:noFill/>
        </p:spPr>
        <p:txBody>
          <a:bodyPr wrap="square">
            <a:spAutoFit/>
          </a:bodyPr>
          <a:lstStyle/>
          <a:p>
            <a:r>
              <a:rPr sz="2400" b="0" i="0">
                <a:solidFill>
                  <a:srgbClr val="2D2D2D"/>
                </a:solidFill>
                <a:latin typeface="Arial"/>
              </a:rPr>
              <a:t>Corporate Proposal Draft</a:t>
            </a:r>
          </a:p>
          <a:p>
            <a:br/>
            <a:r>
              <a:rPr sz="1200" b="0" i="0">
                <a:solidFill>
                  <a:srgbClr val="D04A02"/>
                </a:solidFill>
                <a:latin typeface="Arial"/>
              </a:rPr>
              <a:t>Draft Date: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9144000" cy="4572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8229600" cy="457200"/>
          </a:xfrm>
          <a:prstGeom prst="rect">
            <a:avLst/>
          </a:prstGeom>
          <a:noFill/>
        </p:spPr>
        <p:txBody>
          <a:bodyPr wrap="square" tIns="18288" bIns="18288">
            <a:spAutoFit/>
          </a:bodyPr>
          <a:lstStyle/>
          <a:p>
            <a:pPr algn="l"/>
            <a:r>
              <a:rPr sz="2400" b="1" i="0">
                <a:solidFill>
                  <a:srgbClr val="2D2D2D"/>
                </a:solidFill>
                <a:latin typeface="Arial"/>
              </a:rPr>
              <a:t>Business Summary</a:t>
            </a:r>
          </a:p>
          <a:p>
            <a:r>
              <a:rPr sz="900" b="0" i="0">
                <a:solidFill>
                  <a:srgbClr val="EBA300"/>
                </a:solidFill>
                <a:latin typeface="Arial"/>
              </a:rPr>
              <a:t>Executive overview of the proposed solution</a:t>
            </a:r>
          </a:p>
        </p:txBody>
      </p:sp>
      <p:sp>
        <p:nvSpPr>
          <p:cNvPr id="5" name="Rectangle 4"/>
          <p:cNvSpPr/>
          <p:nvPr/>
        </p:nvSpPr>
        <p:spPr>
          <a:xfrm>
            <a:off x="0" y="6492240"/>
            <a:ext cx="9144000" cy="3657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8229600" cy="274320"/>
          </a:xfrm>
          <a:prstGeom prst="rect">
            <a:avLst/>
          </a:prstGeom>
          <a:noFill/>
        </p:spPr>
        <p:txBody>
          <a:bodyPr wrap="none">
            <a:spAutoFit/>
          </a:bodyPr>
          <a:lstStyle/>
          <a:p>
            <a:pPr algn="l"/>
            <a:r>
              <a:rPr sz="800" b="0" i="0">
                <a:solidFill>
                  <a:srgbClr val="2D2D2D"/>
                </a:solidFill>
                <a:latin typeface="Arial"/>
              </a:rPr>
              <a:t>Solution Advisory  |  Autonomous Bid Lifecycle Platform  |  AI Draft - For Internal Review Only</a:t>
            </a:r>
          </a:p>
        </p:txBody>
      </p:sp>
      <p:sp>
        <p:nvSpPr>
          <p:cNvPr id="7" name="TextBox 6"/>
          <p:cNvSpPr txBox="1"/>
          <p:nvPr/>
        </p:nvSpPr>
        <p:spPr>
          <a:xfrm>
            <a:off x="457200" y="1371600"/>
            <a:ext cx="8229600" cy="4572000"/>
          </a:xfrm>
          <a:prstGeom prst="rect">
            <a:avLst/>
          </a:prstGeom>
          <a:noFill/>
        </p:spPr>
        <p:txBody>
          <a:bodyPr wrap="square">
            <a:spAutoFit/>
          </a:bodyPr>
          <a:lstStyle/>
          <a:p/>
          <a:p>
            <a:pPr algn="just">
              <a:spcAft>
                <a:spcPts val="1400"/>
              </a:spcAft>
            </a:pPr>
            <a:r>
              <a:rPr sz="1400" b="0" i="0">
                <a:solidFill>
                  <a:srgbClr val="2D2D2D"/>
                </a:solidFill>
                <a:latin typeface="Arial"/>
              </a:rPr>
              <a:t>The proposed Unit-Test Case Generator Agent project aims to revolutionize software quality assurance by generating requirement-aligned unit test cases from design documents and user stories before development begins. This proactive approach ensures that tests guide implementation, reducing the risk of undetected business logic gaps. The strategic benefits include enhanced software reliability, reduced defect rates, and accelerated time-to-market. By integrating this solution into existing workflows, development teams can focus on delivering high-quality code from the outset, leading to significant operational efficiencies and a competitive edge in the market.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9144000" cy="4572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8229600" cy="457200"/>
          </a:xfrm>
          <a:prstGeom prst="rect">
            <a:avLst/>
          </a:prstGeom>
          <a:noFill/>
        </p:spPr>
        <p:txBody>
          <a:bodyPr wrap="square" tIns="18288" bIns="18288">
            <a:spAutoFit/>
          </a:bodyPr>
          <a:lstStyle/>
          <a:p>
            <a:pPr algn="l"/>
            <a:r>
              <a:rPr sz="2400" b="1" i="0">
                <a:solidFill>
                  <a:srgbClr val="2D2D2D"/>
                </a:solidFill>
                <a:latin typeface="Arial"/>
              </a:rPr>
              <a:t>Client Requirements &amp; Gap Analysis</a:t>
            </a:r>
          </a:p>
          <a:p>
            <a:r>
              <a:rPr sz="900" b="0" i="0">
                <a:solidFill>
                  <a:srgbClr val="EBA300"/>
                </a:solidFill>
                <a:latin typeface="Arial"/>
              </a:rPr>
              <a:t>RAG-driven competence matching against RFP requirements</a:t>
            </a:r>
          </a:p>
        </p:txBody>
      </p:sp>
      <p:sp>
        <p:nvSpPr>
          <p:cNvPr id="5" name="Rectangle 4"/>
          <p:cNvSpPr/>
          <p:nvPr/>
        </p:nvSpPr>
        <p:spPr>
          <a:xfrm>
            <a:off x="0" y="6492240"/>
            <a:ext cx="9144000" cy="3657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8229600" cy="274320"/>
          </a:xfrm>
          <a:prstGeom prst="rect">
            <a:avLst/>
          </a:prstGeom>
          <a:noFill/>
        </p:spPr>
        <p:txBody>
          <a:bodyPr wrap="none">
            <a:spAutoFit/>
          </a:bodyPr>
          <a:lstStyle/>
          <a:p>
            <a:pPr algn="l"/>
            <a:r>
              <a:rPr sz="800" b="0" i="0">
                <a:solidFill>
                  <a:srgbClr val="2D2D2D"/>
                </a:solidFill>
                <a:latin typeface="Arial"/>
              </a:rPr>
              <a:t>Solution Advisory  |  Autonomous Bid Lifecycle Platform  |  AI Draft - For Internal Review Only</a:t>
            </a:r>
          </a:p>
        </p:txBody>
      </p:sp>
      <p:sp>
        <p:nvSpPr>
          <p:cNvPr id="7" name="TextBox 6"/>
          <p:cNvSpPr txBox="1"/>
          <p:nvPr/>
        </p:nvSpPr>
        <p:spPr>
          <a:xfrm>
            <a:off x="548640" y="1280160"/>
            <a:ext cx="8046720" cy="4754880"/>
          </a:xfrm>
          <a:prstGeom prst="rect">
            <a:avLst/>
          </a:prstGeom>
          <a:noFill/>
        </p:spPr>
        <p:txBody>
          <a:bodyPr wrap="square">
            <a:spAutoFit/>
          </a:bodyPr>
          <a:lstStyle/>
          <a:p>
            <a:pPr>
              <a:spcAft>
                <a:spcPts val="1200"/>
              </a:spcAft>
            </a:pPr>
            <a:r>
              <a:rPr sz="1400" b="1" i="0">
                <a:solidFill>
                  <a:srgbClr val="D04A02"/>
                </a:solidFill>
                <a:latin typeface="Arial"/>
              </a:rPr>
              <a:t>Key Client Requirements:</a:t>
            </a:r>
          </a:p>
          <a:p>
            <a:pPr>
              <a:spcAft>
                <a:spcPts val="1000"/>
              </a:spcAft>
            </a:pPr>
            <a:r>
              <a:rPr sz="1200" b="0" i="0">
                <a:solidFill>
                  <a:srgbClr val="2D2D2D"/>
                </a:solidFill>
                <a:latin typeface="Arial"/>
              </a:rPr>
              <a:t>• Deliver high-performance React front-end application with state management.</a:t>
            </a:r>
          </a:p>
          <a:p>
            <a:pPr>
              <a:spcAft>
                <a:spcPts val="1000"/>
              </a:spcAft>
            </a:pPr>
            <a:r>
              <a:rPr sz="1200" b="0" i="0">
                <a:solidFill>
                  <a:srgbClr val="2D2D2D"/>
                </a:solidFill>
                <a:latin typeface="Arial"/>
              </a:rPr>
              <a:t>• Establish secure, authenticated JSON APIs with low latency.</a:t>
            </a:r>
          </a:p>
          <a:p>
            <a:pPr>
              <a:spcAft>
                <a:spcPts val="1000"/>
              </a:spcAft>
            </a:pPr>
            <a:r>
              <a:rPr sz="1200" b="0" i="0">
                <a:solidFill>
                  <a:srgbClr val="2D2D2D"/>
                </a:solidFill>
                <a:latin typeface="Arial"/>
              </a:rPr>
              <a:t>• Set up secure containerized database configuration with audit trails.</a:t>
            </a:r>
          </a:p>
          <a:p>
            <a:pPr>
              <a:spcAft>
                <a:spcPts val="1000"/>
              </a:spcAft>
            </a:pPr>
            <a:r>
              <a:rPr sz="1200" b="0" i="0">
                <a:solidFill>
                  <a:srgbClr val="2D2D2D"/>
                </a:solidFill>
                <a:latin typeface="Arial"/>
              </a:rPr>
              <a:t>• Implement automated DevOps workflows, CI/CD, and security vulnerability scanning.</a:t>
            </a:r>
          </a:p>
          <a:p>
            <a:pPr>
              <a:spcAft>
                <a:spcPts val="1000"/>
              </a:spcAft>
            </a:pPr>
            <a:r>
              <a:rPr sz="1200" b="0" i="0">
                <a:solidFill>
                  <a:srgbClr val="2D2D2D"/>
                </a:solidFill>
                <a:latin typeface="Arial"/>
              </a:rPr>
              <a:t>• Adhere to delivery target timeline.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9144000" cy="4572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8229600" cy="457200"/>
          </a:xfrm>
          <a:prstGeom prst="rect">
            <a:avLst/>
          </a:prstGeom>
          <a:noFill/>
        </p:spPr>
        <p:txBody>
          <a:bodyPr wrap="square" tIns="18288" bIns="18288">
            <a:spAutoFit/>
          </a:bodyPr>
          <a:lstStyle/>
          <a:p>
            <a:pPr algn="l"/>
            <a:r>
              <a:rPr sz="2400" b="1" i="0">
                <a:solidFill>
                  <a:srgbClr val="2D2D2D"/>
                </a:solidFill>
                <a:latin typeface="Arial"/>
              </a:rPr>
              <a:t>Capability Gaps &amp; Mitigations</a:t>
            </a:r>
          </a:p>
          <a:p>
            <a:r>
              <a:rPr sz="900" b="0" i="0">
                <a:solidFill>
                  <a:srgbClr val="EBA300"/>
                </a:solidFill>
                <a:latin typeface="Arial"/>
              </a:rPr>
              <a:t>Identified gaps against RFP requirements and proposed mitigations</a:t>
            </a:r>
          </a:p>
        </p:txBody>
      </p:sp>
      <p:sp>
        <p:nvSpPr>
          <p:cNvPr id="5" name="Rectangle 4"/>
          <p:cNvSpPr/>
          <p:nvPr/>
        </p:nvSpPr>
        <p:spPr>
          <a:xfrm>
            <a:off x="0" y="6492240"/>
            <a:ext cx="9144000" cy="3657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8229600" cy="274320"/>
          </a:xfrm>
          <a:prstGeom prst="rect">
            <a:avLst/>
          </a:prstGeom>
          <a:noFill/>
        </p:spPr>
        <p:txBody>
          <a:bodyPr wrap="none">
            <a:spAutoFit/>
          </a:bodyPr>
          <a:lstStyle/>
          <a:p>
            <a:pPr algn="l"/>
            <a:r>
              <a:rPr sz="800" b="0" i="0">
                <a:solidFill>
                  <a:srgbClr val="2D2D2D"/>
                </a:solidFill>
                <a:latin typeface="Arial"/>
              </a:rPr>
              <a:t>Solution Advisory  |  Autonomous Bid Lifecycle Platform  |  AI Draft - For Internal Review Only</a:t>
            </a:r>
          </a:p>
        </p:txBody>
      </p:sp>
      <p:sp>
        <p:nvSpPr>
          <p:cNvPr id="7" name="TextBox 6"/>
          <p:cNvSpPr txBox="1"/>
          <p:nvPr/>
        </p:nvSpPr>
        <p:spPr>
          <a:xfrm>
            <a:off x="548640" y="1280160"/>
            <a:ext cx="8046720" cy="4754880"/>
          </a:xfrm>
          <a:prstGeom prst="rect">
            <a:avLst/>
          </a:prstGeom>
          <a:noFill/>
        </p:spPr>
        <p:txBody>
          <a:bodyPr wrap="square">
            <a:spAutoFit/>
          </a:bodyPr>
          <a:lstStyle/>
          <a:p>
            <a:pPr>
              <a:spcAft>
                <a:spcPts val="1200"/>
              </a:spcAft>
            </a:pPr>
            <a:r>
              <a:rPr sz="1400" b="1" i="0">
                <a:solidFill>
                  <a:srgbClr val="A31F34"/>
                </a:solidFill>
                <a:latin typeface="Arial"/>
              </a:rPr>
              <a:t>Capability Gaps &amp; Mitigations:</a:t>
            </a:r>
          </a:p>
          <a:p>
            <a:pPr>
              <a:spcAft>
                <a:spcPts val="1000"/>
              </a:spcAft>
            </a:pPr>
            <a:r>
              <a:rPr sz="1200" b="0" i="0">
                <a:solidFill>
                  <a:srgbClr val="2D2D2D"/>
                </a:solidFill>
                <a:latin typeface="Arial"/>
              </a:rPr>
              <a:t>• Identified gap in Client Requirement: 'Deliver high-performance React front-end application with state management.'. Mitigation: To mitigate our current lack of expertise in React and state management, we will recruit a specialist contractor to ensure the successful delivery of this project.</a:t>
            </a:r>
          </a:p>
          <a:p>
            <a:pPr>
              <a:spcAft>
                <a:spcPts val="1000"/>
              </a:spcAft>
            </a:pPr>
            <a:r>
              <a:rPr sz="1200" b="0" i="0">
                <a:solidFill>
                  <a:srgbClr val="2D2D2D"/>
                </a:solidFill>
                <a:latin typeface="Arial"/>
              </a:rPr>
              <a:t>• Identified gap in Client Requirement: 'Establish secure, authenticated JSON APIs with low latency.'. Mitigation: To mitigate our current limitations, we can partner with a specialized API development firm to ensure the delivery of secure, authenticated JSON APIs with low latency.</a:t>
            </a:r>
          </a:p>
          <a:p>
            <a:pPr>
              <a:spcAft>
                <a:spcPts val="1000"/>
              </a:spcAft>
            </a:pPr>
            <a:r>
              <a:rPr sz="1200" b="0" i="0">
                <a:solidFill>
                  <a:srgbClr val="2D2D2D"/>
                </a:solidFill>
                <a:latin typeface="Arial"/>
              </a:rPr>
              <a:t>• Identified gap in Client Requirement: 'Set up secure containerized database configuration with audit trails.'. Mitigation: To mitigate our current lack of expertise in this area, we will recruit a specialist contractor with experience in setting up secure containerized database configurations and implementing audit trails.</a:t>
            </a:r>
          </a:p>
          <a:p>
            <a:pPr>
              <a:spcAft>
                <a:spcPts val="1000"/>
              </a:spcAft>
            </a:pPr>
            <a:r>
              <a:rPr sz="1200" b="0" i="0">
                <a:solidFill>
                  <a:srgbClr val="2D2D2D"/>
                </a:solidFill>
                <a:latin typeface="Arial"/>
              </a:rPr>
              <a:t>• Identified gap in Client Requirement: 'Implement automated DevOps workflows, CI/CD, and security vulnerability scanning.'. Mitigation: To mitigate our current limitations in meeting this requirement, we will partner with a specialized DevOps consulting firm to augment our capabilities during the initial implementation phase.</a:t>
            </a:r>
          </a:p>
          <a:p>
            <a:pPr>
              <a:spcAft>
                <a:spcPts val="1000"/>
              </a:spcAft>
            </a:pPr>
            <a:r>
              <a:rPr sz="1200" b="0" i="0">
                <a:solidFill>
                  <a:srgbClr val="2D2D2D"/>
                </a:solidFill>
                <a:latin typeface="Arial"/>
              </a:rPr>
              <a:t>• Identified gap in Client Requirement: 'Adhere to delivery target timeline.'. Mitigation: To mitigate the risk of not meeting the delivery target timeline, we can engage an external project management consultant who specializes in expediting complex projects.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9144000" cy="4572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8229600" cy="457200"/>
          </a:xfrm>
          <a:prstGeom prst="rect">
            <a:avLst/>
          </a:prstGeom>
          <a:noFill/>
        </p:spPr>
        <p:txBody>
          <a:bodyPr wrap="square" tIns="18288" bIns="18288">
            <a:spAutoFit/>
          </a:bodyPr>
          <a:lstStyle/>
          <a:p>
            <a:pPr algn="l"/>
            <a:r>
              <a:rPr sz="2400" b="1" i="0">
                <a:solidFill>
                  <a:srgbClr val="2D2D2D"/>
                </a:solidFill>
                <a:latin typeface="Arial"/>
              </a:rPr>
              <a:t>Capability Gaps &amp; Mitigations</a:t>
            </a:r>
          </a:p>
          <a:p>
            <a:r>
              <a:rPr sz="900" b="0" i="0">
                <a:solidFill>
                  <a:srgbClr val="EBA300"/>
                </a:solidFill>
                <a:latin typeface="Arial"/>
              </a:rPr>
              <a:t>Identified gaps against RFP requirements and proposed mitigations</a:t>
            </a:r>
          </a:p>
        </p:txBody>
      </p:sp>
      <p:sp>
        <p:nvSpPr>
          <p:cNvPr id="5" name="Rectangle 4"/>
          <p:cNvSpPr/>
          <p:nvPr/>
        </p:nvSpPr>
        <p:spPr>
          <a:xfrm>
            <a:off x="0" y="6492240"/>
            <a:ext cx="9144000" cy="3657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8229600" cy="274320"/>
          </a:xfrm>
          <a:prstGeom prst="rect">
            <a:avLst/>
          </a:prstGeom>
          <a:noFill/>
        </p:spPr>
        <p:txBody>
          <a:bodyPr wrap="none">
            <a:spAutoFit/>
          </a:bodyPr>
          <a:lstStyle/>
          <a:p>
            <a:pPr algn="l"/>
            <a:r>
              <a:rPr sz="800" b="0" i="0">
                <a:solidFill>
                  <a:srgbClr val="2D2D2D"/>
                </a:solidFill>
                <a:latin typeface="Arial"/>
              </a:rPr>
              <a:t>Solution Advisory  |  Autonomous Bid Lifecycle Platform  |  AI Draft - For Internal Review Only</a:t>
            </a:r>
          </a:p>
        </p:txBody>
      </p:sp>
      <p:sp>
        <p:nvSpPr>
          <p:cNvPr id="7" name="TextBox 6"/>
          <p:cNvSpPr txBox="1"/>
          <p:nvPr/>
        </p:nvSpPr>
        <p:spPr>
          <a:xfrm>
            <a:off x="548640" y="1280160"/>
            <a:ext cx="8046720" cy="4754880"/>
          </a:xfrm>
          <a:prstGeom prst="rect">
            <a:avLst/>
          </a:prstGeom>
          <a:noFill/>
        </p:spPr>
        <p:txBody>
          <a:bodyPr wrap="square">
            <a:spAutoFit/>
          </a:bodyPr>
          <a:lstStyle/>
          <a:p>
            <a:pPr>
              <a:spcAft>
                <a:spcPts val="1200"/>
              </a:spcAft>
            </a:pPr>
            <a:r>
              <a:rPr sz="1400" b="1" i="0">
                <a:solidFill>
                  <a:srgbClr val="A31F34"/>
                </a:solidFill>
                <a:latin typeface="Arial"/>
              </a:rPr>
              <a:t>Capability Gaps &amp; Mitigations:</a:t>
            </a:r>
          </a:p>
          <a:p>
            <a:pPr>
              <a:spcAft>
                <a:spcPts val="1000"/>
              </a:spcAft>
            </a:pPr>
            <a:r>
              <a:rPr sz="1200" b="0" i="0">
                <a:solidFill>
                  <a:srgbClr val="2D2D2D"/>
                </a:solidFill>
                <a:latin typeface="Arial"/>
              </a:rPr>
              <a:t>• Identified gap in Client Requirement: 'Security and Data Protection'. Mitigation: Implement enterprise-grade zero-trust architecture, advanced data encryption, RBAC, and continuous threat detection mechanisms.</a:t>
            </a:r>
          </a:p>
          <a:p>
            <a:pPr>
              <a:spcAft>
                <a:spcPts val="1000"/>
              </a:spcAft>
            </a:pPr>
            <a:r>
              <a:rPr sz="1200" b="0" i="0">
                <a:solidFill>
                  <a:srgbClr val="2D2D2D"/>
                </a:solidFill>
                <a:latin typeface="Arial"/>
              </a:rPr>
              <a:t>• Identified gap in Client Requirement: 'System Observability and Monitoring'. Mitigation: Deploy comprehensive distributed tracing, centralized logging, and real-time alerting dashboards across the multi-agent environment.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9144000" cy="4572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8229600" cy="457200"/>
          </a:xfrm>
          <a:prstGeom prst="rect">
            <a:avLst/>
          </a:prstGeom>
          <a:noFill/>
        </p:spPr>
        <p:txBody>
          <a:bodyPr wrap="square" tIns="18288" bIns="18288">
            <a:spAutoFit/>
          </a:bodyPr>
          <a:lstStyle/>
          <a:p>
            <a:pPr algn="l"/>
            <a:r>
              <a:rPr sz="2400" b="1" i="0">
                <a:solidFill>
                  <a:srgbClr val="2D2D2D"/>
                </a:solidFill>
                <a:latin typeface="Arial"/>
              </a:rPr>
              <a:t>Solution Approach &amp; Architecture</a:t>
            </a:r>
          </a:p>
          <a:p>
            <a:r>
              <a:rPr sz="900" b="0" i="0">
                <a:solidFill>
                  <a:srgbClr val="EBA300"/>
                </a:solidFill>
                <a:latin typeface="Arial"/>
              </a:rPr>
              <a:t>High-level implementation strategy and operational frameworks</a:t>
            </a:r>
          </a:p>
        </p:txBody>
      </p:sp>
      <p:sp>
        <p:nvSpPr>
          <p:cNvPr id="5" name="Rectangle 4"/>
          <p:cNvSpPr/>
          <p:nvPr/>
        </p:nvSpPr>
        <p:spPr>
          <a:xfrm>
            <a:off x="0" y="6492240"/>
            <a:ext cx="9144000" cy="3657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8229600" cy="274320"/>
          </a:xfrm>
          <a:prstGeom prst="rect">
            <a:avLst/>
          </a:prstGeom>
          <a:noFill/>
        </p:spPr>
        <p:txBody>
          <a:bodyPr wrap="none">
            <a:spAutoFit/>
          </a:bodyPr>
          <a:lstStyle/>
          <a:p>
            <a:pPr algn="l"/>
            <a:r>
              <a:rPr sz="800" b="0" i="0">
                <a:solidFill>
                  <a:srgbClr val="2D2D2D"/>
                </a:solidFill>
                <a:latin typeface="Arial"/>
              </a:rPr>
              <a:t>Solution Advisory  |  Autonomous Bid Lifecycle Platform  |  AI Draft - For Internal Review Only</a:t>
            </a:r>
          </a:p>
        </p:txBody>
      </p:sp>
      <p:sp>
        <p:nvSpPr>
          <p:cNvPr id="7" name="TextBox 6"/>
          <p:cNvSpPr txBox="1"/>
          <p:nvPr/>
        </p:nvSpPr>
        <p:spPr>
          <a:xfrm>
            <a:off x="457200" y="1645920"/>
            <a:ext cx="2468880" cy="548640"/>
          </a:xfrm>
          <a:prstGeom prst="rect">
            <a:avLst/>
          </a:prstGeom>
          <a:noFill/>
        </p:spPr>
        <p:txBody>
          <a:bodyPr wrap="square">
            <a:spAutoFit/>
          </a:bodyPr>
          <a:lstStyle/>
          <a:p>
            <a:pPr algn="l"/>
            <a:r>
              <a:rPr sz="1400" b="1" i="0">
                <a:solidFill>
                  <a:srgbClr val="D04A02"/>
                </a:solidFill>
                <a:latin typeface="Arial"/>
              </a:rPr>
              <a:t>01. </a:t>
            </a:r>
            <a:r>
              <a:rPr sz="1400" b="1" i="0">
                <a:solidFill>
                  <a:srgbClr val="2D2D2D"/>
                </a:solidFill>
                <a:latin typeface="Arial"/>
              </a:rPr>
              <a:t>Enhanced Software Quality</a:t>
            </a:r>
          </a:p>
        </p:txBody>
      </p:sp>
      <p:sp>
        <p:nvSpPr>
          <p:cNvPr id="8" name="Rectangle 7"/>
          <p:cNvSpPr/>
          <p:nvPr/>
        </p:nvSpPr>
        <p:spPr>
          <a:xfrm>
            <a:off x="457200" y="2286000"/>
            <a:ext cx="2468880" cy="18288"/>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377440"/>
            <a:ext cx="2468880" cy="3200400"/>
          </a:xfrm>
          <a:prstGeom prst="rect">
            <a:avLst/>
          </a:prstGeom>
          <a:noFill/>
        </p:spPr>
        <p:txBody>
          <a:bodyPr wrap="square">
            <a:spAutoFit/>
          </a:bodyPr>
          <a:lstStyle/>
          <a:p>
            <a:pPr algn="just"/>
            <a:r>
              <a:rPr sz="1000" b="0" i="0">
                <a:solidFill>
                  <a:srgbClr val="2D2D2D"/>
                </a:solidFill>
                <a:latin typeface="Arial"/>
              </a:rPr>
              <a:t>The solution generates unit test cases directly from requirements, ensuring comprehensive coverage of business logic. This proactive approach reduces defects and improves overall software reliability.</a:t>
            </a:r>
          </a:p>
        </p:txBody>
      </p:sp>
      <p:sp>
        <p:nvSpPr>
          <p:cNvPr id="10" name="TextBox 9"/>
          <p:cNvSpPr txBox="1"/>
          <p:nvPr/>
        </p:nvSpPr>
        <p:spPr>
          <a:xfrm>
            <a:off x="3291840" y="1645920"/>
            <a:ext cx="2468880" cy="548640"/>
          </a:xfrm>
          <a:prstGeom prst="rect">
            <a:avLst/>
          </a:prstGeom>
          <a:noFill/>
        </p:spPr>
        <p:txBody>
          <a:bodyPr wrap="square">
            <a:spAutoFit/>
          </a:bodyPr>
          <a:lstStyle/>
          <a:p>
            <a:pPr algn="l"/>
            <a:r>
              <a:rPr sz="1400" b="1" i="0">
                <a:solidFill>
                  <a:srgbClr val="D04A02"/>
                </a:solidFill>
                <a:latin typeface="Arial"/>
              </a:rPr>
              <a:t>02. </a:t>
            </a:r>
            <a:r>
              <a:rPr sz="1400" b="1" i="0">
                <a:solidFill>
                  <a:srgbClr val="2D2D2D"/>
                </a:solidFill>
                <a:latin typeface="Arial"/>
              </a:rPr>
              <a:t>Streamlined Development Process</a:t>
            </a:r>
          </a:p>
        </p:txBody>
      </p:sp>
      <p:sp>
        <p:nvSpPr>
          <p:cNvPr id="11" name="Rectangle 10"/>
          <p:cNvSpPr/>
          <p:nvPr/>
        </p:nvSpPr>
        <p:spPr>
          <a:xfrm>
            <a:off x="3291840" y="2286000"/>
            <a:ext cx="2468880" cy="18288"/>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2377440"/>
            <a:ext cx="2468880" cy="3200400"/>
          </a:xfrm>
          <a:prstGeom prst="rect">
            <a:avLst/>
          </a:prstGeom>
          <a:noFill/>
        </p:spPr>
        <p:txBody>
          <a:bodyPr wrap="square">
            <a:spAutoFit/>
          </a:bodyPr>
          <a:lstStyle/>
          <a:p>
            <a:pPr algn="just"/>
            <a:r>
              <a:rPr sz="1000" b="0" i="0">
                <a:solidFill>
                  <a:srgbClr val="2D2D2D"/>
                </a:solidFill>
                <a:latin typeface="Arial"/>
              </a:rPr>
              <a:t>By integrating requirement-driven TDD principles, the solution accelerates development cycles. Teams can generate tests before or during implementation, guiding code development more effectively.</a:t>
            </a:r>
          </a:p>
        </p:txBody>
      </p:sp>
      <p:sp>
        <p:nvSpPr>
          <p:cNvPr id="13" name="TextBox 12"/>
          <p:cNvSpPr txBox="1"/>
          <p:nvPr/>
        </p:nvSpPr>
        <p:spPr>
          <a:xfrm>
            <a:off x="6126480" y="1645920"/>
            <a:ext cx="2468880" cy="548640"/>
          </a:xfrm>
          <a:prstGeom prst="rect">
            <a:avLst/>
          </a:prstGeom>
          <a:noFill/>
        </p:spPr>
        <p:txBody>
          <a:bodyPr wrap="square">
            <a:spAutoFit/>
          </a:bodyPr>
          <a:lstStyle/>
          <a:p>
            <a:pPr algn="l"/>
            <a:r>
              <a:rPr sz="1400" b="1" i="0">
                <a:solidFill>
                  <a:srgbClr val="D04A02"/>
                </a:solidFill>
                <a:latin typeface="Arial"/>
              </a:rPr>
              <a:t>03. </a:t>
            </a:r>
            <a:r>
              <a:rPr sz="1400" b="1" i="0">
                <a:solidFill>
                  <a:srgbClr val="2D2D2D"/>
                </a:solidFill>
                <a:latin typeface="Arial"/>
              </a:rPr>
              <a:t>Operational Efficiency and Cost Savings</a:t>
            </a:r>
          </a:p>
        </p:txBody>
      </p:sp>
      <p:sp>
        <p:nvSpPr>
          <p:cNvPr id="14" name="Rectangle 13"/>
          <p:cNvSpPr/>
          <p:nvPr/>
        </p:nvSpPr>
        <p:spPr>
          <a:xfrm>
            <a:off x="6126480" y="2286000"/>
            <a:ext cx="2468880" cy="18288"/>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2377440"/>
            <a:ext cx="2468880" cy="3200400"/>
          </a:xfrm>
          <a:prstGeom prst="rect">
            <a:avLst/>
          </a:prstGeom>
          <a:noFill/>
        </p:spPr>
        <p:txBody>
          <a:bodyPr wrap="square">
            <a:spAutoFit/>
          </a:bodyPr>
          <a:lstStyle/>
          <a:p>
            <a:pPr algn="just"/>
            <a:r>
              <a:rPr sz="1000" b="0" i="0">
                <a:solidFill>
                  <a:srgbClr val="2D2D2D"/>
                </a:solidFill>
                <a:latin typeface="Arial"/>
              </a:rPr>
              <a:t>Automated test generation reduces manual effort, allowing teams to focus on high-value tasks. This leads to faster delivery times and lower operational costs, enhancing overall productivity.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8229600" cy="731520"/>
          </a:xfrm>
          <a:prstGeom prst="rect">
            <a:avLst/>
          </a:prstGeom>
          <a:noFill/>
        </p:spPr>
        <p:txBody>
          <a:bodyPr wrap="none">
            <a:spAutoFit/>
          </a:bodyPr>
          <a:lstStyle/>
          <a:p>
            <a:r>
              <a:rPr sz="2800" b="1" i="0">
                <a:solidFill>
                  <a:srgbClr val="FFFFFF"/>
                </a:solidFill>
                <a:latin typeface="Arial"/>
              </a:rPr>
              <a:t>High Level Design: Data Flow</a:t>
            </a:r>
          </a:p>
        </p:txBody>
      </p:sp>
      <p:sp>
        <p:nvSpPr>
          <p:cNvPr id="5" name="Rounded Rectangle 4"/>
          <p:cNvSpPr/>
          <p:nvPr/>
        </p:nvSpPr>
        <p:spPr>
          <a:xfrm>
            <a:off x="914400" y="1828800"/>
            <a:ext cx="7315200" cy="822960"/>
          </a:xfrm>
          <a:prstGeom prst="roundRect">
            <a:avLst/>
          </a:prstGeom>
          <a:solidFill>
            <a:srgbClr val="1E1E1E"/>
          </a:solidFill>
          <a:ln w="19050">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7132320" cy="822960"/>
          </a:xfrm>
          <a:prstGeom prst="rect">
            <a:avLst/>
          </a:prstGeom>
          <a:noFill/>
        </p:spPr>
        <p:txBody>
          <a:bodyPr wrap="square" anchor="ctr">
            <a:spAutoFit/>
          </a:bodyPr>
          <a:lstStyle/>
          <a:p>
            <a:pPr algn="ctr"/>
            <a:r>
              <a:rPr sz="1100" b="1" i="0">
                <a:solidFill>
                  <a:srgbClr val="FFFFFF"/>
                </a:solidFill>
                <a:latin typeface="Arial"/>
              </a:rPr>
              <a:t>User uploads requirement and design artifacts.</a:t>
            </a:r>
          </a:p>
        </p:txBody>
      </p:sp>
      <p:sp>
        <p:nvSpPr>
          <p:cNvPr id="7" name="TextBox 6"/>
          <p:cNvSpPr txBox="1"/>
          <p:nvPr/>
        </p:nvSpPr>
        <p:spPr>
          <a:xfrm>
            <a:off x="4389120" y="2651760"/>
            <a:ext cx="365760" cy="274320"/>
          </a:xfrm>
          <a:prstGeom prst="rect">
            <a:avLst/>
          </a:prstGeom>
          <a:noFill/>
        </p:spPr>
        <p:txBody>
          <a:bodyPr wrap="none">
            <a:spAutoFit/>
          </a:bodyPr>
          <a:lstStyle/>
          <a:p>
            <a:pPr algn="ctr"/>
            <a:r>
              <a:rPr sz="1200" b="1" i="0">
                <a:solidFill>
                  <a:srgbClr val="D04A02"/>
                </a:solidFill>
                <a:latin typeface="Arial"/>
              </a:rPr>
              <a:t>▼</a:t>
            </a:r>
          </a:p>
        </p:txBody>
      </p:sp>
      <p:sp>
        <p:nvSpPr>
          <p:cNvPr id="8" name="Rounded Rectangle 7"/>
          <p:cNvSpPr/>
          <p:nvPr/>
        </p:nvSpPr>
        <p:spPr>
          <a:xfrm>
            <a:off x="914400" y="2926079"/>
            <a:ext cx="7315200" cy="822960"/>
          </a:xfrm>
          <a:prstGeom prst="roundRect">
            <a:avLst/>
          </a:prstGeom>
          <a:solidFill>
            <a:srgbClr val="1E1E1E"/>
          </a:solidFill>
          <a:ln w="19050">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926079"/>
            <a:ext cx="7132320" cy="822960"/>
          </a:xfrm>
          <a:prstGeom prst="rect">
            <a:avLst/>
          </a:prstGeom>
          <a:noFill/>
        </p:spPr>
        <p:txBody>
          <a:bodyPr wrap="square" anchor="ctr">
            <a:spAutoFit/>
          </a:bodyPr>
          <a:lstStyle/>
          <a:p>
            <a:pPr algn="ctr"/>
            <a:r>
              <a:rPr sz="1100" b="1" i="0">
                <a:solidFill>
                  <a:srgbClr val="FFFFFF"/>
                </a:solidFill>
                <a:latin typeface="Arial"/>
              </a:rPr>
              <a:t>Artifacts are processed to extract relevant information.</a:t>
            </a:r>
          </a:p>
        </p:txBody>
      </p:sp>
      <p:sp>
        <p:nvSpPr>
          <p:cNvPr id="10" name="TextBox 9"/>
          <p:cNvSpPr txBox="1"/>
          <p:nvPr/>
        </p:nvSpPr>
        <p:spPr>
          <a:xfrm>
            <a:off x="4389120" y="3749039"/>
            <a:ext cx="365760" cy="274320"/>
          </a:xfrm>
          <a:prstGeom prst="rect">
            <a:avLst/>
          </a:prstGeom>
          <a:noFill/>
        </p:spPr>
        <p:txBody>
          <a:bodyPr wrap="none">
            <a:spAutoFit/>
          </a:bodyPr>
          <a:lstStyle/>
          <a:p>
            <a:pPr algn="ctr"/>
            <a:r>
              <a:rPr sz="1200" b="1" i="0">
                <a:solidFill>
                  <a:srgbClr val="D04A02"/>
                </a:solidFill>
                <a:latin typeface="Arial"/>
              </a:rPr>
              <a:t>▼</a:t>
            </a:r>
          </a:p>
        </p:txBody>
      </p:sp>
      <p:sp>
        <p:nvSpPr>
          <p:cNvPr id="11" name="Rounded Rectangle 10"/>
          <p:cNvSpPr/>
          <p:nvPr/>
        </p:nvSpPr>
        <p:spPr>
          <a:xfrm>
            <a:off x="914400" y="4023359"/>
            <a:ext cx="7315200" cy="822960"/>
          </a:xfrm>
          <a:prstGeom prst="roundRect">
            <a:avLst/>
          </a:prstGeom>
          <a:solidFill>
            <a:srgbClr val="1E1E1E"/>
          </a:solidFill>
          <a:ln w="19050">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023359"/>
            <a:ext cx="7132320" cy="822960"/>
          </a:xfrm>
          <a:prstGeom prst="rect">
            <a:avLst/>
          </a:prstGeom>
          <a:noFill/>
        </p:spPr>
        <p:txBody>
          <a:bodyPr wrap="square" anchor="ctr">
            <a:spAutoFit/>
          </a:bodyPr>
          <a:lstStyle/>
          <a:p>
            <a:pPr algn="ctr"/>
            <a:r>
              <a:rPr sz="1100" b="1" i="0">
                <a:solidFill>
                  <a:srgbClr val="FFFFFF"/>
                </a:solidFill>
                <a:latin typeface="Arial"/>
              </a:rPr>
              <a:t>Unit tests are generated based on extracted requirements.</a:t>
            </a:r>
          </a:p>
        </p:txBody>
      </p:sp>
      <p:sp>
        <p:nvSpPr>
          <p:cNvPr id="13" name="TextBox 12"/>
          <p:cNvSpPr txBox="1"/>
          <p:nvPr/>
        </p:nvSpPr>
        <p:spPr>
          <a:xfrm>
            <a:off x="4389120" y="4846320"/>
            <a:ext cx="365760" cy="274320"/>
          </a:xfrm>
          <a:prstGeom prst="rect">
            <a:avLst/>
          </a:prstGeom>
          <a:noFill/>
        </p:spPr>
        <p:txBody>
          <a:bodyPr wrap="none">
            <a:spAutoFit/>
          </a:bodyPr>
          <a:lstStyle/>
          <a:p>
            <a:pPr algn="ctr"/>
            <a:r>
              <a:rPr sz="1200" b="1" i="0">
                <a:solidFill>
                  <a:srgbClr val="D04A02"/>
                </a:solidFill>
                <a:latin typeface="Arial"/>
              </a:rPr>
              <a:t>▼</a:t>
            </a:r>
          </a:p>
        </p:txBody>
      </p:sp>
      <p:sp>
        <p:nvSpPr>
          <p:cNvPr id="14" name="Rounded Rectangle 13"/>
          <p:cNvSpPr/>
          <p:nvPr/>
        </p:nvSpPr>
        <p:spPr>
          <a:xfrm>
            <a:off x="914400" y="5120640"/>
            <a:ext cx="7315200" cy="822960"/>
          </a:xfrm>
          <a:prstGeom prst="roundRect">
            <a:avLst/>
          </a:prstGeom>
          <a:solidFill>
            <a:srgbClr val="1E1E1E"/>
          </a:solidFill>
          <a:ln w="19050">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120640"/>
            <a:ext cx="7132320" cy="822960"/>
          </a:xfrm>
          <a:prstGeom prst="rect">
            <a:avLst/>
          </a:prstGeom>
          <a:noFill/>
        </p:spPr>
        <p:txBody>
          <a:bodyPr wrap="square" anchor="ctr">
            <a:spAutoFit/>
          </a:bodyPr>
          <a:lstStyle/>
          <a:p>
            <a:pPr algn="ctr"/>
            <a:r>
              <a:rPr sz="1100" b="1" i="0">
                <a:solidFill>
                  <a:srgbClr val="FFFFFF"/>
                </a:solidFill>
                <a:latin typeface="Arial"/>
              </a:rPr>
              <a:t>Generated tests are reviewed and packaged for implementation.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9144000" cy="4572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8229600" cy="457200"/>
          </a:xfrm>
          <a:prstGeom prst="rect">
            <a:avLst/>
          </a:prstGeom>
          <a:noFill/>
        </p:spPr>
        <p:txBody>
          <a:bodyPr wrap="square" tIns="18288" bIns="18288">
            <a:spAutoFit/>
          </a:bodyPr>
          <a:lstStyle/>
          <a:p>
            <a:pPr algn="l"/>
            <a:r>
              <a:rPr sz="2400" b="1" i="0">
                <a:solidFill>
                  <a:srgbClr val="2D2D2D"/>
                </a:solidFill>
                <a:latin typeface="Arial"/>
              </a:rPr>
              <a:t>Landscape &amp; Architecture</a:t>
            </a:r>
          </a:p>
          <a:p>
            <a:r>
              <a:rPr sz="900" b="0" i="0">
                <a:solidFill>
                  <a:srgbClr val="EBA300"/>
                </a:solidFill>
                <a:latin typeface="Arial"/>
              </a:rPr>
              <a:t>Reference systems architecture and integration patterns</a:t>
            </a:r>
          </a:p>
        </p:txBody>
      </p:sp>
      <p:sp>
        <p:nvSpPr>
          <p:cNvPr id="5" name="Rectangle 4"/>
          <p:cNvSpPr/>
          <p:nvPr/>
        </p:nvSpPr>
        <p:spPr>
          <a:xfrm>
            <a:off x="0" y="6492240"/>
            <a:ext cx="9144000" cy="3657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8229600" cy="274320"/>
          </a:xfrm>
          <a:prstGeom prst="rect">
            <a:avLst/>
          </a:prstGeom>
          <a:noFill/>
        </p:spPr>
        <p:txBody>
          <a:bodyPr wrap="none">
            <a:spAutoFit/>
          </a:bodyPr>
          <a:lstStyle/>
          <a:p>
            <a:pPr algn="l"/>
            <a:r>
              <a:rPr sz="800" b="0" i="0">
                <a:solidFill>
                  <a:srgbClr val="2D2D2D"/>
                </a:solidFill>
                <a:latin typeface="Arial"/>
              </a:rPr>
              <a:t>Solution Advisory  |  Autonomous Bid Lifecycle Platform  |  AI Draft - For Internal Review Only</a:t>
            </a:r>
          </a:p>
        </p:txBody>
      </p:sp>
      <p:sp>
        <p:nvSpPr>
          <p:cNvPr id="7" name="Rounded Rectangle 6"/>
          <p:cNvSpPr/>
          <p:nvPr/>
        </p:nvSpPr>
        <p:spPr>
          <a:xfrm>
            <a:off x="457200" y="1371600"/>
            <a:ext cx="8229600" cy="914400"/>
          </a:xfrm>
          <a:prstGeom prst="roundRect">
            <a:avLst/>
          </a:prstGeom>
          <a:solidFill>
            <a:srgbClr val="F8F9FA"/>
          </a:solidFill>
          <a:ln w="19050">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2286000" cy="9144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Presentation layer (UI Client)</a:t>
            </a:r>
          </a:p>
        </p:txBody>
      </p:sp>
      <p:sp>
        <p:nvSpPr>
          <p:cNvPr id="9" name="Down Arrow 8"/>
          <p:cNvSpPr/>
          <p:nvPr/>
        </p:nvSpPr>
        <p:spPr>
          <a:xfrm>
            <a:off x="1463040" y="2331720"/>
            <a:ext cx="274320" cy="182880"/>
          </a:xfrm>
          <a:prstGeom prst="downArrow">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26080" y="1508760"/>
            <a:ext cx="2606040" cy="640080"/>
          </a:xfrm>
          <a:prstGeom prst="roundRect">
            <a:avLst/>
          </a:prstGeom>
          <a:solidFill>
            <a:srgbClr val="FFFFFF"/>
          </a:solidFill>
          <a:ln w="12700">
            <a:solidFill>
              <a:srgbClr val="D04A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2D2D2D"/>
                </a:solidFill>
                <a:latin typeface="Arial"/>
              </a:rPr>
              <a:t>Web UI</a:t>
            </a:r>
          </a:p>
        </p:txBody>
      </p:sp>
      <p:sp>
        <p:nvSpPr>
          <p:cNvPr id="11" name="Right Arrow 10"/>
          <p:cNvSpPr/>
          <p:nvPr/>
        </p:nvSpPr>
        <p:spPr>
          <a:xfrm>
            <a:off x="5532120" y="1737360"/>
            <a:ext cx="137160" cy="182880"/>
          </a:xfrm>
          <a:prstGeom prst="rightArrow">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0" y="1508760"/>
            <a:ext cx="2606040" cy="640080"/>
          </a:xfrm>
          <a:prstGeom prst="roundRect">
            <a:avLst/>
          </a:prstGeom>
          <a:solidFill>
            <a:srgbClr val="FFFFFF"/>
          </a:solidFill>
          <a:ln w="12700">
            <a:solidFill>
              <a:srgbClr val="D04A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2D2D2D"/>
                </a:solidFill>
                <a:latin typeface="Arial"/>
              </a:rPr>
              <a:t>State Management</a:t>
            </a:r>
          </a:p>
        </p:txBody>
      </p:sp>
      <p:sp>
        <p:nvSpPr>
          <p:cNvPr id="13" name="Rounded Rectangle 12"/>
          <p:cNvSpPr/>
          <p:nvPr/>
        </p:nvSpPr>
        <p:spPr>
          <a:xfrm>
            <a:off x="457200" y="2560320"/>
            <a:ext cx="8229600" cy="1645920"/>
          </a:xfrm>
          <a:prstGeom prst="roundRect">
            <a:avLst/>
          </a:prstGeom>
          <a:solidFill>
            <a:srgbClr val="F8F9FA"/>
          </a:solidFill>
          <a:ln w="19050">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560320"/>
            <a:ext cx="2286000" cy="164592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Application Logic (API Backend)</a:t>
            </a:r>
          </a:p>
        </p:txBody>
      </p:sp>
      <p:sp>
        <p:nvSpPr>
          <p:cNvPr id="15" name="Down Arrow 14"/>
          <p:cNvSpPr/>
          <p:nvPr/>
        </p:nvSpPr>
        <p:spPr>
          <a:xfrm>
            <a:off x="1463040" y="4251959"/>
            <a:ext cx="274320" cy="182880"/>
          </a:xfrm>
          <a:prstGeom prst="downArrow">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926080" y="2697479"/>
            <a:ext cx="1234440" cy="640080"/>
          </a:xfrm>
          <a:prstGeom prst="roundRect">
            <a:avLst/>
          </a:prstGeom>
          <a:solidFill>
            <a:srgbClr val="FFFFFF"/>
          </a:solidFill>
          <a:ln w="12700">
            <a:solidFill>
              <a:srgbClr val="D04A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2D2D2D"/>
                </a:solidFill>
                <a:latin typeface="Arial"/>
              </a:rPr>
              <a:t>Core API Server</a:t>
            </a:r>
          </a:p>
        </p:txBody>
      </p:sp>
      <p:sp>
        <p:nvSpPr>
          <p:cNvPr id="17" name="Right Arrow 16"/>
          <p:cNvSpPr/>
          <p:nvPr/>
        </p:nvSpPr>
        <p:spPr>
          <a:xfrm>
            <a:off x="4160520" y="2926079"/>
            <a:ext cx="137160" cy="182880"/>
          </a:xfrm>
          <a:prstGeom prst="rightArrow">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97680" y="2697479"/>
            <a:ext cx="1234440" cy="640080"/>
          </a:xfrm>
          <a:prstGeom prst="roundRect">
            <a:avLst/>
          </a:prstGeom>
          <a:solidFill>
            <a:srgbClr val="FFFFFF"/>
          </a:solidFill>
          <a:ln w="12700">
            <a:solidFill>
              <a:srgbClr val="D04A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2D2D2D"/>
                </a:solidFill>
                <a:latin typeface="Arial"/>
              </a:rPr>
              <a:t>Auth Service</a:t>
            </a:r>
          </a:p>
        </p:txBody>
      </p:sp>
      <p:sp>
        <p:nvSpPr>
          <p:cNvPr id="19" name="Right Arrow 18"/>
          <p:cNvSpPr/>
          <p:nvPr/>
        </p:nvSpPr>
        <p:spPr>
          <a:xfrm>
            <a:off x="5532120" y="2926079"/>
            <a:ext cx="137160" cy="182880"/>
          </a:xfrm>
          <a:prstGeom prst="rightArrow">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669280" y="2697479"/>
            <a:ext cx="1234440" cy="640080"/>
          </a:xfrm>
          <a:prstGeom prst="roundRect">
            <a:avLst/>
          </a:prstGeom>
          <a:solidFill>
            <a:srgbClr val="FFFFFF"/>
          </a:solidFill>
          <a:ln w="12700">
            <a:solidFill>
              <a:srgbClr val="D04A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2D2D2D"/>
                </a:solidFill>
                <a:latin typeface="Arial"/>
              </a:rPr>
              <a:t>Artifact Intake Agent</a:t>
            </a:r>
          </a:p>
        </p:txBody>
      </p:sp>
      <p:sp>
        <p:nvSpPr>
          <p:cNvPr id="21" name="Right Arrow 20"/>
          <p:cNvSpPr/>
          <p:nvPr/>
        </p:nvSpPr>
        <p:spPr>
          <a:xfrm>
            <a:off x="6903720" y="2926079"/>
            <a:ext cx="137160" cy="182880"/>
          </a:xfrm>
          <a:prstGeom prst="rightArrow">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40880" y="2697479"/>
            <a:ext cx="1234440" cy="640080"/>
          </a:xfrm>
          <a:prstGeom prst="roundRect">
            <a:avLst/>
          </a:prstGeom>
          <a:solidFill>
            <a:srgbClr val="FFFFFF"/>
          </a:solidFill>
          <a:ln w="12700">
            <a:solidFill>
              <a:srgbClr val="D04A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2D2D2D"/>
                </a:solidFill>
                <a:latin typeface="Arial"/>
              </a:rPr>
              <a:t>Requirement Decomposition Agent</a:t>
            </a:r>
          </a:p>
        </p:txBody>
      </p:sp>
      <p:sp>
        <p:nvSpPr>
          <p:cNvPr id="23" name="Rounded Rectangle 22"/>
          <p:cNvSpPr/>
          <p:nvPr/>
        </p:nvSpPr>
        <p:spPr>
          <a:xfrm>
            <a:off x="2926080" y="3429000"/>
            <a:ext cx="1234440" cy="640080"/>
          </a:xfrm>
          <a:prstGeom prst="roundRect">
            <a:avLst/>
          </a:prstGeom>
          <a:solidFill>
            <a:srgbClr val="FFFFFF"/>
          </a:solidFill>
          <a:ln w="12700">
            <a:solidFill>
              <a:srgbClr val="D04A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2D2D2D"/>
                </a:solidFill>
                <a:latin typeface="Arial"/>
              </a:rPr>
              <a:t>Service Decomposition Agent</a:t>
            </a:r>
          </a:p>
        </p:txBody>
      </p:sp>
      <p:sp>
        <p:nvSpPr>
          <p:cNvPr id="24" name="Right Arrow 23"/>
          <p:cNvSpPr/>
          <p:nvPr/>
        </p:nvSpPr>
        <p:spPr>
          <a:xfrm>
            <a:off x="4160520" y="3657600"/>
            <a:ext cx="137160" cy="182880"/>
          </a:xfrm>
          <a:prstGeom prst="rightArrow">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297680" y="3429000"/>
            <a:ext cx="1234440" cy="640080"/>
          </a:xfrm>
          <a:prstGeom prst="roundRect">
            <a:avLst/>
          </a:prstGeom>
          <a:solidFill>
            <a:srgbClr val="FFFFFF"/>
          </a:solidFill>
          <a:ln w="12700">
            <a:solidFill>
              <a:srgbClr val="D04A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2D2D2D"/>
                </a:solidFill>
                <a:latin typeface="Arial"/>
              </a:rPr>
              <a:t>Test Case Design Agent</a:t>
            </a:r>
          </a:p>
        </p:txBody>
      </p:sp>
      <p:sp>
        <p:nvSpPr>
          <p:cNvPr id="26" name="Right Arrow 25"/>
          <p:cNvSpPr/>
          <p:nvPr/>
        </p:nvSpPr>
        <p:spPr>
          <a:xfrm>
            <a:off x="5532120" y="3657600"/>
            <a:ext cx="137160" cy="182880"/>
          </a:xfrm>
          <a:prstGeom prst="rightArrow">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669280" y="3429000"/>
            <a:ext cx="1234440" cy="640080"/>
          </a:xfrm>
          <a:prstGeom prst="roundRect">
            <a:avLst/>
          </a:prstGeom>
          <a:solidFill>
            <a:srgbClr val="FFFFFF"/>
          </a:solidFill>
          <a:ln w="12700">
            <a:solidFill>
              <a:srgbClr val="D04A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2D2D2D"/>
                </a:solidFill>
                <a:latin typeface="Arial"/>
              </a:rPr>
              <a:t>Coverage Reviewer</a:t>
            </a:r>
          </a:p>
        </p:txBody>
      </p:sp>
      <p:sp>
        <p:nvSpPr>
          <p:cNvPr id="28" name="Right Arrow 27"/>
          <p:cNvSpPr/>
          <p:nvPr/>
        </p:nvSpPr>
        <p:spPr>
          <a:xfrm>
            <a:off x="6903720" y="3657600"/>
            <a:ext cx="137160" cy="182880"/>
          </a:xfrm>
          <a:prstGeom prst="rightArrow">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040880" y="3429000"/>
            <a:ext cx="1234440" cy="640080"/>
          </a:xfrm>
          <a:prstGeom prst="roundRect">
            <a:avLst/>
          </a:prstGeom>
          <a:solidFill>
            <a:srgbClr val="FFFFFF"/>
          </a:solidFill>
          <a:ln w="12700">
            <a:solidFill>
              <a:srgbClr val="D04A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2D2D2D"/>
                </a:solidFill>
                <a:latin typeface="Arial"/>
              </a:rPr>
              <a:t>Output Agent</a:t>
            </a:r>
          </a:p>
        </p:txBody>
      </p:sp>
      <p:sp>
        <p:nvSpPr>
          <p:cNvPr id="30" name="Rounded Rectangle 29"/>
          <p:cNvSpPr/>
          <p:nvPr/>
        </p:nvSpPr>
        <p:spPr>
          <a:xfrm>
            <a:off x="457200" y="4480560"/>
            <a:ext cx="8229600" cy="914400"/>
          </a:xfrm>
          <a:prstGeom prst="roundRect">
            <a:avLst/>
          </a:prstGeom>
          <a:solidFill>
            <a:srgbClr val="F8F9FA"/>
          </a:solidFill>
          <a:ln w="19050">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480560"/>
            <a:ext cx="2286000" cy="9144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Data Integration &amp; Cache Layer</a:t>
            </a:r>
          </a:p>
        </p:txBody>
      </p:sp>
      <p:sp>
        <p:nvSpPr>
          <p:cNvPr id="32" name="Rounded Rectangle 31"/>
          <p:cNvSpPr/>
          <p:nvPr/>
        </p:nvSpPr>
        <p:spPr>
          <a:xfrm>
            <a:off x="2926080" y="4617720"/>
            <a:ext cx="1234440" cy="640080"/>
          </a:xfrm>
          <a:prstGeom prst="roundRect">
            <a:avLst/>
          </a:prstGeom>
          <a:solidFill>
            <a:srgbClr val="FFFFFF"/>
          </a:solidFill>
          <a:ln w="12700">
            <a:solidFill>
              <a:srgbClr val="D04A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2D2D2D"/>
                </a:solidFill>
                <a:latin typeface="Arial"/>
              </a:rPr>
              <a:t>Database</a:t>
            </a:r>
          </a:p>
        </p:txBody>
      </p:sp>
      <p:sp>
        <p:nvSpPr>
          <p:cNvPr id="33" name="Right Arrow 32"/>
          <p:cNvSpPr/>
          <p:nvPr/>
        </p:nvSpPr>
        <p:spPr>
          <a:xfrm>
            <a:off x="4160520" y="4846320"/>
            <a:ext cx="137160" cy="182880"/>
          </a:xfrm>
          <a:prstGeom prst="rightArrow">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297680" y="4617720"/>
            <a:ext cx="1234440" cy="640080"/>
          </a:xfrm>
          <a:prstGeom prst="roundRect">
            <a:avLst/>
          </a:prstGeom>
          <a:solidFill>
            <a:srgbClr val="FFFFFF"/>
          </a:solidFill>
          <a:ln w="12700">
            <a:solidFill>
              <a:srgbClr val="D04A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2D2D2D"/>
                </a:solidFill>
                <a:latin typeface="Arial"/>
              </a:rPr>
              <a:t>Object Storage</a:t>
            </a:r>
          </a:p>
        </p:txBody>
      </p:sp>
      <p:sp>
        <p:nvSpPr>
          <p:cNvPr id="35" name="Right Arrow 34"/>
          <p:cNvSpPr/>
          <p:nvPr/>
        </p:nvSpPr>
        <p:spPr>
          <a:xfrm>
            <a:off x="5532120" y="4846320"/>
            <a:ext cx="137160" cy="182880"/>
          </a:xfrm>
          <a:prstGeom prst="rightArrow">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669280" y="4617720"/>
            <a:ext cx="1234440" cy="640080"/>
          </a:xfrm>
          <a:prstGeom prst="roundRect">
            <a:avLst/>
          </a:prstGeom>
          <a:solidFill>
            <a:srgbClr val="FFFFFF"/>
          </a:solidFill>
          <a:ln w="12700">
            <a:solidFill>
              <a:srgbClr val="D04A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2D2D2D"/>
                </a:solidFill>
                <a:latin typeface="Arial"/>
              </a:rPr>
              <a:t>Message Queue</a:t>
            </a:r>
          </a:p>
        </p:txBody>
      </p:sp>
      <p:sp>
        <p:nvSpPr>
          <p:cNvPr id="37" name="Right Arrow 36"/>
          <p:cNvSpPr/>
          <p:nvPr/>
        </p:nvSpPr>
        <p:spPr>
          <a:xfrm>
            <a:off x="6903720" y="4846320"/>
            <a:ext cx="137160" cy="182880"/>
          </a:xfrm>
          <a:prstGeom prst="rightArrow">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040880" y="4617720"/>
            <a:ext cx="1234440" cy="640080"/>
          </a:xfrm>
          <a:prstGeom prst="roundRect">
            <a:avLst/>
          </a:prstGeom>
          <a:solidFill>
            <a:srgbClr val="FFFFFF"/>
          </a:solidFill>
          <a:ln w="12700">
            <a:solidFill>
              <a:srgbClr val="D04A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2D2D2D"/>
                </a:solidFill>
                <a:latin typeface="Arial"/>
              </a:rPr>
              <a:t>Cache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9144000" cy="4572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8229600" cy="457200"/>
          </a:xfrm>
          <a:prstGeom prst="rect">
            <a:avLst/>
          </a:prstGeom>
          <a:noFill/>
        </p:spPr>
        <p:txBody>
          <a:bodyPr wrap="square" tIns="18288" bIns="18288">
            <a:spAutoFit/>
          </a:bodyPr>
          <a:lstStyle/>
          <a:p>
            <a:pPr algn="l"/>
            <a:r>
              <a:rPr sz="2400" b="1" i="0">
                <a:solidFill>
                  <a:srgbClr val="2D2D2D"/>
                </a:solidFill>
                <a:latin typeface="Arial"/>
              </a:rPr>
              <a:t>Infrastructure Approximation</a:t>
            </a:r>
          </a:p>
          <a:p>
            <a:r>
              <a:rPr sz="900" b="0" i="0">
                <a:solidFill>
                  <a:srgbClr val="EBA300"/>
                </a:solidFill>
                <a:latin typeface="Arial"/>
              </a:rPr>
              <a:t>Estimated cloud infrastructure components and costs</a:t>
            </a:r>
          </a:p>
        </p:txBody>
      </p:sp>
      <p:sp>
        <p:nvSpPr>
          <p:cNvPr id="5" name="Rectangle 4"/>
          <p:cNvSpPr/>
          <p:nvPr/>
        </p:nvSpPr>
        <p:spPr>
          <a:xfrm>
            <a:off x="0" y="6492240"/>
            <a:ext cx="9144000" cy="3657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8229600" cy="274320"/>
          </a:xfrm>
          <a:prstGeom prst="rect">
            <a:avLst/>
          </a:prstGeom>
          <a:noFill/>
        </p:spPr>
        <p:txBody>
          <a:bodyPr wrap="none">
            <a:spAutoFit/>
          </a:bodyPr>
          <a:lstStyle/>
          <a:p>
            <a:pPr algn="l"/>
            <a:r>
              <a:rPr sz="800" b="0" i="0">
                <a:solidFill>
                  <a:srgbClr val="2D2D2D"/>
                </a:solidFill>
                <a:latin typeface="Arial"/>
              </a:rPr>
              <a:t>Solution Advisory  |  Autonomous Bid Lifecycle Platform  |  AI Draft - For Internal Review Only</a:t>
            </a:r>
          </a:p>
        </p:txBody>
      </p:sp>
      <p:graphicFrame>
        <p:nvGraphicFramePr>
          <p:cNvPr id="7" name="Table 6"/>
          <p:cNvGraphicFramePr>
            <a:graphicFrameLocks noGrp="1"/>
          </p:cNvGraphicFramePr>
          <p:nvPr/>
        </p:nvGraphicFramePr>
        <p:xfrm>
          <a:off x="914400" y="1828800"/>
          <a:ext cx="7315200" cy="2743200"/>
        </p:xfrm>
        <a:graphic>
          <a:graphicData uri="http://schemas.openxmlformats.org/drawingml/2006/table">
            <a:tbl>
              <a:tblPr firstRow="1" bandRow="1">
                <a:tableStyleId>{5C22544A-7EE6-4342-B048-85BDC9FD1C3A}</a:tableStyleId>
              </a:tblPr>
              <a:tblGrid>
                <a:gridCol w="2286000"/>
                <a:gridCol w="3200400"/>
                <a:gridCol w="1828800"/>
              </a:tblGrid>
              <a:tr h="457200">
                <a:tc>
                  <a:txBody>
                    <a:bodyPr/>
                    <a:lstStyle/>
                    <a:p>
                      <a:pPr algn="ctr"/>
                      <a:r>
                        <a:rPr sz="1200" b="1" i="0">
                          <a:solidFill>
                            <a:srgbClr val="FFFFFF"/>
                          </a:solidFill>
                          <a:latin typeface="Arial"/>
                        </a:rPr>
                        <a:t>Azure Component</a:t>
                      </a:r>
                    </a:p>
                  </a:txBody>
                  <a:tcPr>
                    <a:solidFill>
                      <a:srgbClr val="2D2D2D"/>
                    </a:solidFill>
                  </a:tcPr>
                </a:tc>
                <a:tc>
                  <a:txBody>
                    <a:bodyPr/>
                    <a:lstStyle/>
                    <a:p>
                      <a:pPr algn="ctr"/>
                      <a:r>
                        <a:rPr sz="1200" b="1" i="0">
                          <a:solidFill>
                            <a:srgbClr val="FFFFFF"/>
                          </a:solidFill>
                          <a:latin typeface="Arial"/>
                        </a:rPr>
                        <a:t>Specification</a:t>
                      </a:r>
                    </a:p>
                  </a:txBody>
                  <a:tcPr>
                    <a:solidFill>
                      <a:srgbClr val="2D2D2D"/>
                    </a:solidFill>
                  </a:tcPr>
                </a:tc>
                <a:tc>
                  <a:txBody>
                    <a:bodyPr/>
                    <a:lstStyle/>
                    <a:p>
                      <a:pPr algn="ctr"/>
                      <a:r>
                        <a:rPr sz="1200" b="1" i="0">
                          <a:solidFill>
                            <a:srgbClr val="FFFFFF"/>
                          </a:solidFill>
                          <a:latin typeface="Arial"/>
                        </a:rPr>
                        <a:t>Unit Cost</a:t>
                      </a:r>
                    </a:p>
                  </a:txBody>
                  <a:tcPr>
                    <a:solidFill>
                      <a:srgbClr val="2D2D2D"/>
                    </a:solidFill>
                  </a:tcPr>
                </a:tc>
              </a:tr>
              <a:tr h="457200">
                <a:tc>
                  <a:txBody>
                    <a:bodyPr/>
                    <a:lstStyle/>
                    <a:p>
                      <a:pPr algn="l"/>
                      <a:r>
                        <a:rPr sz="1100" b="0" i="0">
                          <a:solidFill>
                            <a:srgbClr val="2D2D2D"/>
                          </a:solidFill>
                          <a:latin typeface="Arial"/>
                        </a:rPr>
                        <a:t>Azure App Service</a:t>
                      </a:r>
                    </a:p>
                  </a:txBody>
                  <a:tcPr>
                    <a:solidFill>
                      <a:srgbClr val="F8F9FA"/>
                    </a:solidFill>
                  </a:tcPr>
                </a:tc>
                <a:tc>
                  <a:txBody>
                    <a:bodyPr/>
                    <a:lstStyle/>
                    <a:p>
                      <a:pPr algn="l"/>
                      <a:r>
                        <a:rPr sz="1100" b="0" i="0">
                          <a:solidFill>
                            <a:srgbClr val="2D2D2D"/>
                          </a:solidFill>
                          <a:latin typeface="Arial"/>
                        </a:rPr>
                        <a:t>2x Standard S1 instances</a:t>
                      </a:r>
                    </a:p>
                  </a:txBody>
                  <a:tcPr>
                    <a:solidFill>
                      <a:srgbClr val="F8F9FA"/>
                    </a:solidFill>
                  </a:tcPr>
                </a:tc>
                <a:tc>
                  <a:txBody>
                    <a:bodyPr/>
                    <a:lstStyle/>
                    <a:p>
                      <a:pPr algn="ctr"/>
                      <a:r>
                        <a:rPr sz="1100" b="0" i="0">
                          <a:solidFill>
                            <a:srgbClr val="2D2D2D"/>
                          </a:solidFill>
                          <a:latin typeface="Arial"/>
                        </a:rPr>
                        <a:t>$ $300 onwards per hour</a:t>
                      </a:r>
                    </a:p>
                  </a:txBody>
                  <a:tcPr>
                    <a:solidFill>
                      <a:srgbClr val="F8F9FA"/>
                    </a:solidFill>
                  </a:tcPr>
                </a:tc>
              </a:tr>
              <a:tr h="457200">
                <a:tc>
                  <a:txBody>
                    <a:bodyPr/>
                    <a:lstStyle/>
                    <a:p>
                      <a:pPr algn="l"/>
                      <a:r>
                        <a:rPr sz="1100" b="0" i="0">
                          <a:solidFill>
                            <a:srgbClr val="2D2D2D"/>
                          </a:solidFill>
                          <a:latin typeface="Arial"/>
                        </a:rPr>
                        <a:t>Azure API Management</a:t>
                      </a:r>
                    </a:p>
                  </a:txBody>
                  <a:tcPr>
                    <a:solidFill>
                      <a:srgbClr val="FFFFFF"/>
                    </a:solidFill>
                  </a:tcPr>
                </a:tc>
                <a:tc>
                  <a:txBody>
                    <a:bodyPr/>
                    <a:lstStyle/>
                    <a:p>
                      <a:pPr algn="l"/>
                      <a:r>
                        <a:rPr sz="1100" b="0" i="0">
                          <a:solidFill>
                            <a:srgbClr val="2D2D2D"/>
                          </a:solidFill>
                          <a:latin typeface="Arial"/>
                        </a:rPr>
                        <a:t>Standard tier, 4 units</a:t>
                      </a:r>
                    </a:p>
                  </a:txBody>
                  <a:tcPr>
                    <a:solidFill>
                      <a:srgbClr val="FFFFFF"/>
                    </a:solidFill>
                  </a:tcPr>
                </a:tc>
                <a:tc>
                  <a:txBody>
                    <a:bodyPr/>
                    <a:lstStyle/>
                    <a:p>
                      <a:pPr algn="ctr"/>
                      <a:r>
                        <a:rPr sz="1100" b="0" i="0">
                          <a:solidFill>
                            <a:srgbClr val="2D2D2D"/>
                          </a:solidFill>
                          <a:latin typeface="Arial"/>
                        </a:rPr>
                        <a:t>$ $500 onwards per hour</a:t>
                      </a:r>
                    </a:p>
                  </a:txBody>
                  <a:tcPr>
                    <a:solidFill>
                      <a:srgbClr val="FFFFFF"/>
                    </a:solidFill>
                  </a:tcPr>
                </a:tc>
              </a:tr>
              <a:tr h="457200">
                <a:tc>
                  <a:txBody>
                    <a:bodyPr/>
                    <a:lstStyle/>
                    <a:p>
                      <a:pPr algn="l"/>
                      <a:r>
                        <a:rPr sz="1100" b="0" i="0">
                          <a:solidFill>
                            <a:srgbClr val="2D2D2D"/>
                          </a:solidFill>
                          <a:latin typeface="Arial"/>
                        </a:rPr>
                        <a:t>Azure Cache for Redis</a:t>
                      </a:r>
                    </a:p>
                  </a:txBody>
                  <a:tcPr>
                    <a:solidFill>
                      <a:srgbClr val="F8F9FA"/>
                    </a:solidFill>
                  </a:tcPr>
                </a:tc>
                <a:tc>
                  <a:txBody>
                    <a:bodyPr/>
                    <a:lstStyle/>
                    <a:p>
                      <a:pPr algn="l"/>
                      <a:r>
                        <a:rPr sz="1100" b="0" i="0">
                          <a:solidFill>
                            <a:srgbClr val="2D2D2D"/>
                          </a:solidFill>
                          <a:latin typeface="Arial"/>
                        </a:rPr>
                        <a:t>2x Standard C1 instances</a:t>
                      </a:r>
                    </a:p>
                  </a:txBody>
                  <a:tcPr>
                    <a:solidFill>
                      <a:srgbClr val="F8F9FA"/>
                    </a:solidFill>
                  </a:tcPr>
                </a:tc>
                <a:tc>
                  <a:txBody>
                    <a:bodyPr/>
                    <a:lstStyle/>
                    <a:p>
                      <a:pPr algn="ctr"/>
                      <a:r>
                        <a:rPr sz="1100" b="0" i="0">
                          <a:solidFill>
                            <a:srgbClr val="2D2D2D"/>
                          </a:solidFill>
                          <a:latin typeface="Arial"/>
                        </a:rPr>
                        <a:t>$ $350 onwards per hour</a:t>
                      </a:r>
                    </a:p>
                  </a:txBody>
                  <a:tcPr>
                    <a:solidFill>
                      <a:srgbClr val="F8F9FA"/>
                    </a:solidFill>
                  </a:tcPr>
                </a:tc>
              </a:tr>
              <a:tr h="457200">
                <a:tc>
                  <a:txBody>
                    <a:bodyPr/>
                    <a:lstStyle/>
                    <a:p>
                      <a:pPr algn="l"/>
                      <a:r>
                        <a:rPr sz="1100" b="0" i="0">
                          <a:solidFill>
                            <a:srgbClr val="2D2D2D"/>
                          </a:solidFill>
                          <a:latin typeface="Arial"/>
                        </a:rPr>
                        <a:t>Azure Blob Storage</a:t>
                      </a:r>
                    </a:p>
                  </a:txBody>
                  <a:tcPr>
                    <a:solidFill>
                      <a:srgbClr val="FFFFFF"/>
                    </a:solidFill>
                  </a:tcPr>
                </a:tc>
                <a:tc>
                  <a:txBody>
                    <a:bodyPr/>
                    <a:lstStyle/>
                    <a:p>
                      <a:pPr algn="l"/>
                      <a:r>
                        <a:rPr sz="1100" b="0" i="0">
                          <a:solidFill>
                            <a:srgbClr val="2D2D2D"/>
                          </a:solidFill>
                          <a:latin typeface="Arial"/>
                        </a:rPr>
                        <a:t>10 TB LRS storage, 1 GB read/write</a:t>
                      </a:r>
                    </a:p>
                  </a:txBody>
                  <a:tcPr>
                    <a:solidFill>
                      <a:srgbClr val="FFFFFF"/>
                    </a:solidFill>
                  </a:tcPr>
                </a:tc>
                <a:tc>
                  <a:txBody>
                    <a:bodyPr/>
                    <a:lstStyle/>
                    <a:p>
                      <a:pPr algn="ctr"/>
                      <a:r>
                        <a:rPr sz="1100" b="0" i="0">
                          <a:solidFill>
                            <a:srgbClr val="2D2D2D"/>
                          </a:solidFill>
                          <a:latin typeface="Arial"/>
                        </a:rPr>
                        <a:t>$ $400 onwards per hour</a:t>
                      </a:r>
                    </a:p>
                  </a:txBody>
                  <a:tcPr>
                    <a:solidFill>
                      <a:srgbClr val="FFFFFF"/>
                    </a:solidFill>
                  </a:tcPr>
                </a:tc>
              </a:tr>
              <a:tr h="457200">
                <a:tc>
                  <a:txBody>
                    <a:bodyPr/>
                    <a:lstStyle/>
                    <a:p>
                      <a:pPr algn="l"/>
                      <a:r>
                        <a:rPr sz="1100" b="0" i="0">
                          <a:solidFill>
                            <a:srgbClr val="2D2D2D"/>
                          </a:solidFill>
                          <a:latin typeface="Arial"/>
                        </a:rPr>
                        <a:t>Azure PostgreSQL Database</a:t>
                      </a:r>
                    </a:p>
                  </a:txBody>
                  <a:tcPr>
                    <a:solidFill>
                      <a:srgbClr val="F8F9FA"/>
                    </a:solidFill>
                  </a:tcPr>
                </a:tc>
                <a:tc>
                  <a:txBody>
                    <a:bodyPr/>
                    <a:lstStyle/>
                    <a:p>
                      <a:pPr algn="l"/>
                      <a:r>
                        <a:rPr sz="1100" b="0" i="0">
                          <a:solidFill>
                            <a:srgbClr val="2D2D2D"/>
                          </a:solidFill>
                          <a:latin typeface="Arial"/>
                        </a:rPr>
                        <a:t>2x General Purpose, 8 vCores</a:t>
                      </a:r>
                    </a:p>
                  </a:txBody>
                  <a:tcPr>
                    <a:solidFill>
                      <a:srgbClr val="F8F9FA"/>
                    </a:solidFill>
                  </a:tcPr>
                </a:tc>
                <a:tc>
                  <a:txBody>
                    <a:bodyPr/>
                    <a:lstStyle/>
                    <a:p>
                      <a:pPr algn="ctr"/>
                      <a:r>
                        <a:rPr sz="1100" b="0" i="0">
                          <a:solidFill>
                            <a:srgbClr val="2D2D2D"/>
                          </a:solidFill>
                          <a:latin typeface="Arial"/>
                        </a:rPr>
                        <a:t>$ $650 onwards per hour</a:t>
                      </a:r>
                    </a:p>
                  </a:txBody>
                  <a:tcPr>
                    <a:solidFill>
                      <a:srgbClr val="F8F9FA"/>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9144000" cy="4572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8229600" cy="457200"/>
          </a:xfrm>
          <a:prstGeom prst="rect">
            <a:avLst/>
          </a:prstGeom>
          <a:noFill/>
        </p:spPr>
        <p:txBody>
          <a:bodyPr wrap="square" tIns="18288" bIns="18288">
            <a:spAutoFit/>
          </a:bodyPr>
          <a:lstStyle/>
          <a:p>
            <a:pPr algn="l"/>
            <a:r>
              <a:rPr sz="2400" b="1" i="0">
                <a:solidFill>
                  <a:srgbClr val="2D2D2D"/>
                </a:solidFill>
                <a:latin typeface="Arial"/>
              </a:rPr>
              <a:t>Project Milestones</a:t>
            </a:r>
          </a:p>
          <a:p>
            <a:r>
              <a:rPr sz="900" b="0" i="0">
                <a:solidFill>
                  <a:srgbClr val="EBA300"/>
                </a:solidFill>
                <a:latin typeface="Arial"/>
              </a:rPr>
              <a:t>Sequential delivery phases and target deliverables</a:t>
            </a:r>
          </a:p>
        </p:txBody>
      </p:sp>
      <p:sp>
        <p:nvSpPr>
          <p:cNvPr id="5" name="Rectangle 4"/>
          <p:cNvSpPr/>
          <p:nvPr/>
        </p:nvSpPr>
        <p:spPr>
          <a:xfrm>
            <a:off x="0" y="6492240"/>
            <a:ext cx="9144000" cy="3657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8229600" cy="274320"/>
          </a:xfrm>
          <a:prstGeom prst="rect">
            <a:avLst/>
          </a:prstGeom>
          <a:noFill/>
        </p:spPr>
        <p:txBody>
          <a:bodyPr wrap="none">
            <a:spAutoFit/>
          </a:bodyPr>
          <a:lstStyle/>
          <a:p>
            <a:pPr algn="l"/>
            <a:r>
              <a:rPr sz="800" b="0" i="0">
                <a:solidFill>
                  <a:srgbClr val="2D2D2D"/>
                </a:solidFill>
                <a:latin typeface="Arial"/>
              </a:rPr>
              <a:t>Solution Advisory  |  Autonomous Bid Lifecycle Platform  |  AI Draft - For Internal Review Only</a:t>
            </a:r>
          </a:p>
        </p:txBody>
      </p:sp>
      <p:sp>
        <p:nvSpPr>
          <p:cNvPr id="7" name="Chevron 6"/>
          <p:cNvSpPr/>
          <p:nvPr/>
        </p:nvSpPr>
        <p:spPr>
          <a:xfrm>
            <a:off x="457200" y="1325880"/>
            <a:ext cx="2926080" cy="777240"/>
          </a:xfrm>
          <a:prstGeom prst="chevron">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Arial"/>
              </a:rPr>
              <a:t>Design &amp; Planning</a:t>
            </a:r>
          </a:p>
        </p:txBody>
      </p:sp>
      <p:sp>
        <p:nvSpPr>
          <p:cNvPr id="8" name="Rectangle 7"/>
          <p:cNvSpPr/>
          <p:nvPr/>
        </p:nvSpPr>
        <p:spPr>
          <a:xfrm>
            <a:off x="3657600" y="1234440"/>
            <a:ext cx="5029200" cy="960120"/>
          </a:xfrm>
          <a:prstGeom prst="rect">
            <a:avLst/>
          </a:prstGeom>
          <a:solidFill>
            <a:srgbClr val="F8F9FA"/>
          </a:solidFill>
          <a:ln w="1270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2D2D2D"/>
                </a:solidFill>
                <a:latin typeface="Arial"/>
              </a:rPr>
              <a:t>Key Deliverables / Activities:</a:t>
            </a:r>
          </a:p>
          <a:p>
            <a:r>
              <a:rPr sz="900" b="0" i="0">
                <a:solidFill>
                  <a:srgbClr val="2D2D2D"/>
                </a:solidFill>
                <a:latin typeface="Arial"/>
              </a:rPr>
              <a:t>Project planning, requirements gathering, and initial design.</a:t>
            </a:r>
          </a:p>
        </p:txBody>
      </p:sp>
      <p:sp>
        <p:nvSpPr>
          <p:cNvPr id="9" name="Chevron 8"/>
          <p:cNvSpPr/>
          <p:nvPr/>
        </p:nvSpPr>
        <p:spPr>
          <a:xfrm>
            <a:off x="457200" y="2350008"/>
            <a:ext cx="2926080" cy="777240"/>
          </a:xfrm>
          <a:prstGeom prst="chevron">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Arial"/>
              </a:rPr>
              <a:t>Development</a:t>
            </a:r>
          </a:p>
        </p:txBody>
      </p:sp>
      <p:sp>
        <p:nvSpPr>
          <p:cNvPr id="10" name="Rectangle 9"/>
          <p:cNvSpPr/>
          <p:nvPr/>
        </p:nvSpPr>
        <p:spPr>
          <a:xfrm>
            <a:off x="3657600" y="2258568"/>
            <a:ext cx="5029200" cy="960120"/>
          </a:xfrm>
          <a:prstGeom prst="rect">
            <a:avLst/>
          </a:prstGeom>
          <a:solidFill>
            <a:srgbClr val="F8F9FA"/>
          </a:solidFill>
          <a:ln w="1270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2D2D2D"/>
                </a:solidFill>
                <a:latin typeface="Arial"/>
              </a:rPr>
              <a:t>Key Deliverables / Activities:</a:t>
            </a:r>
          </a:p>
          <a:p>
            <a:r>
              <a:rPr sz="900" b="0" i="0">
                <a:solidFill>
                  <a:srgbClr val="2D2D2D"/>
                </a:solidFill>
                <a:latin typeface="Arial"/>
              </a:rPr>
              <a:t>Front-end development with React, state management implementation, secure API setup, containerized database configuration, and DevOps workflows.</a:t>
            </a:r>
          </a:p>
        </p:txBody>
      </p:sp>
      <p:sp>
        <p:nvSpPr>
          <p:cNvPr id="11" name="Chevron 10"/>
          <p:cNvSpPr/>
          <p:nvPr/>
        </p:nvSpPr>
        <p:spPr>
          <a:xfrm>
            <a:off x="457200" y="3374136"/>
            <a:ext cx="2926080" cy="777240"/>
          </a:xfrm>
          <a:prstGeom prst="chevron">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Arial"/>
              </a:rPr>
              <a:t>Testing</a:t>
            </a:r>
          </a:p>
        </p:txBody>
      </p:sp>
      <p:sp>
        <p:nvSpPr>
          <p:cNvPr id="12" name="Rectangle 11"/>
          <p:cNvSpPr/>
          <p:nvPr/>
        </p:nvSpPr>
        <p:spPr>
          <a:xfrm>
            <a:off x="3657600" y="3282696"/>
            <a:ext cx="5029200" cy="960120"/>
          </a:xfrm>
          <a:prstGeom prst="rect">
            <a:avLst/>
          </a:prstGeom>
          <a:solidFill>
            <a:srgbClr val="F8F9FA"/>
          </a:solidFill>
          <a:ln w="1270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2D2D2D"/>
                </a:solidFill>
                <a:latin typeface="Arial"/>
              </a:rPr>
              <a:t>Key Deliverables / Activities:</a:t>
            </a:r>
          </a:p>
          <a:p>
            <a:r>
              <a:rPr sz="900" b="0" i="0">
                <a:solidFill>
                  <a:srgbClr val="2D2D2D"/>
                </a:solidFill>
                <a:latin typeface="Arial"/>
              </a:rPr>
              <a:t>Unit testing, integration testing, performance testing, and security testing.</a:t>
            </a:r>
          </a:p>
        </p:txBody>
      </p:sp>
      <p:sp>
        <p:nvSpPr>
          <p:cNvPr id="13" name="Chevron 12"/>
          <p:cNvSpPr/>
          <p:nvPr/>
        </p:nvSpPr>
        <p:spPr>
          <a:xfrm>
            <a:off x="457200" y="4398264"/>
            <a:ext cx="2926080" cy="777240"/>
          </a:xfrm>
          <a:prstGeom prst="chevron">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Arial"/>
              </a:rPr>
              <a:t>Deployment</a:t>
            </a:r>
          </a:p>
        </p:txBody>
      </p:sp>
      <p:sp>
        <p:nvSpPr>
          <p:cNvPr id="14" name="Rectangle 13"/>
          <p:cNvSpPr/>
          <p:nvPr/>
        </p:nvSpPr>
        <p:spPr>
          <a:xfrm>
            <a:off x="3657600" y="4306824"/>
            <a:ext cx="5029200" cy="960120"/>
          </a:xfrm>
          <a:prstGeom prst="rect">
            <a:avLst/>
          </a:prstGeom>
          <a:solidFill>
            <a:srgbClr val="F8F9FA"/>
          </a:solidFill>
          <a:ln w="1270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2D2D2D"/>
                </a:solidFill>
                <a:latin typeface="Arial"/>
              </a:rPr>
              <a:t>Key Deliverables / Activities:</a:t>
            </a:r>
          </a:p>
          <a:p>
            <a:r>
              <a:rPr sz="900" b="0" i="0">
                <a:solidFill>
                  <a:srgbClr val="2D2D2D"/>
                </a:solidFill>
                <a:latin typeface="Arial"/>
              </a:rPr>
              <a:t>Application deployment to production environment.</a:t>
            </a:r>
          </a:p>
        </p:txBody>
      </p:sp>
      <p:sp>
        <p:nvSpPr>
          <p:cNvPr id="15" name="Chevron 14"/>
          <p:cNvSpPr/>
          <p:nvPr/>
        </p:nvSpPr>
        <p:spPr>
          <a:xfrm>
            <a:off x="457200" y="5422392"/>
            <a:ext cx="2926080" cy="777240"/>
          </a:xfrm>
          <a:prstGeom prst="chevron">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Arial"/>
              </a:rPr>
              <a:t>Training</a:t>
            </a:r>
          </a:p>
        </p:txBody>
      </p:sp>
      <p:sp>
        <p:nvSpPr>
          <p:cNvPr id="16" name="Rectangle 15"/>
          <p:cNvSpPr/>
          <p:nvPr/>
        </p:nvSpPr>
        <p:spPr>
          <a:xfrm>
            <a:off x="3657600" y="5330952"/>
            <a:ext cx="5029200" cy="960120"/>
          </a:xfrm>
          <a:prstGeom prst="rect">
            <a:avLst/>
          </a:prstGeom>
          <a:solidFill>
            <a:srgbClr val="F8F9FA"/>
          </a:solidFill>
          <a:ln w="1270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2D2D2D"/>
                </a:solidFill>
                <a:latin typeface="Arial"/>
              </a:rPr>
              <a:t>Key Deliverables / Activities:</a:t>
            </a:r>
          </a:p>
          <a:p>
            <a:r>
              <a:rPr sz="900" b="0" i="0">
                <a:solidFill>
                  <a:srgbClr val="2D2D2D"/>
                </a:solidFill>
                <a:latin typeface="Arial"/>
              </a:rPr>
              <a:t>End-user training and documentation.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9144000" cy="4572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8229600" cy="457200"/>
          </a:xfrm>
          <a:prstGeom prst="rect">
            <a:avLst/>
          </a:prstGeom>
          <a:noFill/>
        </p:spPr>
        <p:txBody>
          <a:bodyPr wrap="square" tIns="18288" bIns="18288">
            <a:spAutoFit/>
          </a:bodyPr>
          <a:lstStyle/>
          <a:p>
            <a:pPr algn="l"/>
            <a:r>
              <a:rPr sz="2400" b="1" i="0">
                <a:solidFill>
                  <a:srgbClr val="2D2D2D"/>
                </a:solidFill>
                <a:latin typeface="Arial"/>
              </a:rPr>
              <a:t>Effort &amp; Person-Hour Conversion</a:t>
            </a:r>
          </a:p>
          <a:p>
            <a:r>
              <a:rPr sz="900" b="0" i="0">
                <a:solidFill>
                  <a:srgbClr val="EBA300"/>
                </a:solidFill>
                <a:latin typeface="Arial"/>
              </a:rPr>
              <a:t>Allocated program FTE structure, rate cards, and financial sizing</a:t>
            </a:r>
          </a:p>
        </p:txBody>
      </p:sp>
      <p:sp>
        <p:nvSpPr>
          <p:cNvPr id="5" name="Rectangle 4"/>
          <p:cNvSpPr/>
          <p:nvPr/>
        </p:nvSpPr>
        <p:spPr>
          <a:xfrm>
            <a:off x="0" y="6492240"/>
            <a:ext cx="9144000" cy="3657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8229600" cy="274320"/>
          </a:xfrm>
          <a:prstGeom prst="rect">
            <a:avLst/>
          </a:prstGeom>
          <a:noFill/>
        </p:spPr>
        <p:txBody>
          <a:bodyPr wrap="none">
            <a:spAutoFit/>
          </a:bodyPr>
          <a:lstStyle/>
          <a:p>
            <a:pPr algn="l"/>
            <a:r>
              <a:rPr sz="800" b="0" i="0">
                <a:solidFill>
                  <a:srgbClr val="2D2D2D"/>
                </a:solidFill>
                <a:latin typeface="Arial"/>
              </a:rPr>
              <a:t>Solution Advisory  |  Autonomous Bid Lifecycle Platform  |  AI Draft - For Internal Review Only</a:t>
            </a:r>
          </a:p>
        </p:txBody>
      </p:sp>
      <p:graphicFrame>
        <p:nvGraphicFramePr>
          <p:cNvPr id="7" name="Table 6"/>
          <p:cNvGraphicFramePr>
            <a:graphicFrameLocks noGrp="1"/>
          </p:cNvGraphicFramePr>
          <p:nvPr/>
        </p:nvGraphicFramePr>
        <p:xfrm>
          <a:off x="457200" y="1371600"/>
          <a:ext cx="8229600" cy="2560320"/>
        </p:xfrm>
        <a:graphic>
          <a:graphicData uri="http://schemas.openxmlformats.org/drawingml/2006/table">
            <a:tbl>
              <a:tblPr firstRow="1" bandRow="1">
                <a:tableStyleId>{5C22544A-7EE6-4342-B048-85BDC9FD1C3A}</a:tableStyleId>
              </a:tblPr>
              <a:tblGrid>
                <a:gridCol w="3200400"/>
                <a:gridCol w="1645920"/>
                <a:gridCol w="1554480"/>
                <a:gridCol w="1828800"/>
              </a:tblGrid>
              <a:tr h="365760">
                <a:tc>
                  <a:txBody>
                    <a:bodyPr/>
                    <a:lstStyle/>
                    <a:p>
                      <a:pPr algn="ctr"/>
                      <a:r>
                        <a:rPr sz="1100" b="1" i="0">
                          <a:solidFill>
                            <a:srgbClr val="FFFFFF"/>
                          </a:solidFill>
                          <a:latin typeface="Arial"/>
                        </a:rPr>
                        <a:t>Role / Competency</a:t>
                      </a:r>
                    </a:p>
                  </a:txBody>
                  <a:tcPr>
                    <a:solidFill>
                      <a:srgbClr val="2D2D2D"/>
                    </a:solidFill>
                  </a:tcPr>
                </a:tc>
                <a:tc>
                  <a:txBody>
                    <a:bodyPr/>
                    <a:lstStyle/>
                    <a:p>
                      <a:pPr algn="ctr"/>
                      <a:r>
                        <a:rPr sz="1100" b="1" i="0">
                          <a:solidFill>
                            <a:srgbClr val="FFFFFF"/>
                          </a:solidFill>
                          <a:latin typeface="Arial"/>
                        </a:rPr>
                        <a:t>Hourly Rate</a:t>
                      </a:r>
                    </a:p>
                  </a:txBody>
                  <a:tcPr>
                    <a:solidFill>
                      <a:srgbClr val="2D2D2D"/>
                    </a:solidFill>
                  </a:tcPr>
                </a:tc>
                <a:tc>
                  <a:txBody>
                    <a:bodyPr/>
                    <a:lstStyle/>
                    <a:p>
                      <a:pPr algn="ctr"/>
                      <a:r>
                        <a:rPr sz="1100" b="1" i="0">
                          <a:solidFill>
                            <a:srgbClr val="FFFFFF"/>
                          </a:solidFill>
                          <a:latin typeface="Arial"/>
                        </a:rPr>
                        <a:t>Person Hours</a:t>
                      </a:r>
                    </a:p>
                  </a:txBody>
                  <a:tcPr>
                    <a:solidFill>
                      <a:srgbClr val="2D2D2D"/>
                    </a:solidFill>
                  </a:tcPr>
                </a:tc>
                <a:tc>
                  <a:txBody>
                    <a:bodyPr/>
                    <a:lstStyle/>
                    <a:p>
                      <a:pPr algn="ctr"/>
                      <a:r>
                        <a:rPr sz="1100" b="1" i="0">
                          <a:solidFill>
                            <a:srgbClr val="FFFFFF"/>
                          </a:solidFill>
                          <a:latin typeface="Arial"/>
                        </a:rPr>
                        <a:t>Total Financial Sizing</a:t>
                      </a:r>
                    </a:p>
                  </a:txBody>
                  <a:tcPr>
                    <a:solidFill>
                      <a:srgbClr val="2D2D2D"/>
                    </a:solidFill>
                  </a:tcPr>
                </a:tc>
              </a:tr>
              <a:tr h="365760">
                <a:tc>
                  <a:txBody>
                    <a:bodyPr/>
                    <a:lstStyle/>
                    <a:p>
                      <a:pPr algn="l"/>
                      <a:r>
                        <a:rPr sz="1000" b="1" i="0">
                          <a:solidFill>
                            <a:srgbClr val="2D2D2D"/>
                          </a:solidFill>
                          <a:latin typeface="Arial"/>
                        </a:rPr>
                        <a:t>Project Manager</a:t>
                      </a:r>
                    </a:p>
                  </a:txBody>
                  <a:tcPr>
                    <a:solidFill>
                      <a:srgbClr val="F8F9FA"/>
                    </a:solidFill>
                  </a:tcPr>
                </a:tc>
                <a:tc>
                  <a:txBody>
                    <a:bodyPr/>
                    <a:lstStyle/>
                    <a:p>
                      <a:pPr algn="ctr"/>
                      <a:r>
                        <a:rPr sz="1000" b="0" i="0">
                          <a:solidFill>
                            <a:srgbClr val="2D2D2D"/>
                          </a:solidFill>
                          <a:latin typeface="Arial"/>
                        </a:rPr>
                        <a:t>$100000</a:t>
                      </a:r>
                    </a:p>
                  </a:txBody>
                  <a:tcPr>
                    <a:solidFill>
                      <a:srgbClr val="F8F9FA"/>
                    </a:solidFill>
                  </a:tcPr>
                </a:tc>
                <a:tc>
                  <a:txBody>
                    <a:bodyPr/>
                    <a:lstStyle/>
                    <a:p>
                      <a:pPr algn="ctr"/>
                      <a:r>
                        <a:rPr sz="1000" b="0" i="0">
                          <a:solidFill>
                            <a:srgbClr val="2D2D2D"/>
                          </a:solidFill>
                          <a:latin typeface="Arial"/>
                        </a:rPr>
                        <a:t>80</a:t>
                      </a:r>
                    </a:p>
                  </a:txBody>
                  <a:tcPr>
                    <a:solidFill>
                      <a:srgbClr val="F8F9FA"/>
                    </a:solidFill>
                  </a:tcPr>
                </a:tc>
                <a:tc>
                  <a:txBody>
                    <a:bodyPr/>
                    <a:lstStyle/>
                    <a:p>
                      <a:pPr algn="ctr"/>
                      <a:r>
                        <a:rPr sz="1000" b="0" i="0">
                          <a:solidFill>
                            <a:srgbClr val="2D2D2D"/>
                          </a:solidFill>
                          <a:latin typeface="Arial"/>
                        </a:rPr>
                        <a:t>$8,000,000</a:t>
                      </a:r>
                    </a:p>
                  </a:txBody>
                  <a:tcPr>
                    <a:solidFill>
                      <a:srgbClr val="F8F9FA"/>
                    </a:solidFill>
                  </a:tcPr>
                </a:tc>
              </a:tr>
              <a:tr h="365760">
                <a:tc>
                  <a:txBody>
                    <a:bodyPr/>
                    <a:lstStyle/>
                    <a:p>
                      <a:pPr algn="l"/>
                      <a:r>
                        <a:rPr sz="1000" b="1" i="0">
                          <a:solidFill>
                            <a:srgbClr val="2D2D2D"/>
                          </a:solidFill>
                          <a:latin typeface="Arial"/>
                        </a:rPr>
                        <a:t>Solution Architect</a:t>
                      </a:r>
                    </a:p>
                  </a:txBody>
                  <a:tcPr>
                    <a:solidFill>
                      <a:srgbClr val="FFFFFF"/>
                    </a:solidFill>
                  </a:tcPr>
                </a:tc>
                <a:tc>
                  <a:txBody>
                    <a:bodyPr/>
                    <a:lstStyle/>
                    <a:p>
                      <a:pPr algn="ctr"/>
                      <a:r>
                        <a:rPr sz="1000" b="0" i="0">
                          <a:solidFill>
                            <a:srgbClr val="2D2D2D"/>
                          </a:solidFill>
                          <a:latin typeface="Arial"/>
                        </a:rPr>
                        <a:t>$60</a:t>
                      </a:r>
                    </a:p>
                  </a:txBody>
                  <a:tcPr>
                    <a:solidFill>
                      <a:srgbClr val="FFFFFF"/>
                    </a:solidFill>
                  </a:tcPr>
                </a:tc>
                <a:tc>
                  <a:txBody>
                    <a:bodyPr/>
                    <a:lstStyle/>
                    <a:p>
                      <a:pPr algn="ctr"/>
                      <a:r>
                        <a:rPr sz="1000" b="0" i="0">
                          <a:solidFill>
                            <a:srgbClr val="2D2D2D"/>
                          </a:solidFill>
                          <a:latin typeface="Arial"/>
                        </a:rPr>
                        <a:t>80</a:t>
                      </a:r>
                    </a:p>
                  </a:txBody>
                  <a:tcPr>
                    <a:solidFill>
                      <a:srgbClr val="FFFFFF"/>
                    </a:solidFill>
                  </a:tcPr>
                </a:tc>
                <a:tc>
                  <a:txBody>
                    <a:bodyPr/>
                    <a:lstStyle/>
                    <a:p>
                      <a:pPr algn="ctr"/>
                      <a:r>
                        <a:rPr sz="1000" b="0" i="0">
                          <a:solidFill>
                            <a:srgbClr val="2D2D2D"/>
                          </a:solidFill>
                          <a:latin typeface="Arial"/>
                        </a:rPr>
                        <a:t>$4,800</a:t>
                      </a:r>
                    </a:p>
                  </a:txBody>
                  <a:tcPr>
                    <a:solidFill>
                      <a:srgbClr val="FFFFFF"/>
                    </a:solidFill>
                  </a:tcPr>
                </a:tc>
              </a:tr>
              <a:tr h="365760">
                <a:tc>
                  <a:txBody>
                    <a:bodyPr/>
                    <a:lstStyle/>
                    <a:p>
                      <a:pPr algn="l"/>
                      <a:r>
                        <a:rPr sz="1000" b="1" i="0">
                          <a:solidFill>
                            <a:srgbClr val="2D2D2D"/>
                          </a:solidFill>
                          <a:latin typeface="Arial"/>
                        </a:rPr>
                        <a:t>AI/ML Engineer</a:t>
                      </a:r>
                    </a:p>
                  </a:txBody>
                  <a:tcPr>
                    <a:solidFill>
                      <a:srgbClr val="F8F9FA"/>
                    </a:solidFill>
                  </a:tcPr>
                </a:tc>
                <a:tc>
                  <a:txBody>
                    <a:bodyPr/>
                    <a:lstStyle/>
                    <a:p>
                      <a:pPr algn="ctr"/>
                      <a:r>
                        <a:rPr sz="1000" b="0" i="0">
                          <a:solidFill>
                            <a:srgbClr val="2D2D2D"/>
                          </a:solidFill>
                          <a:latin typeface="Arial"/>
                        </a:rPr>
                        <a:t>$60</a:t>
                      </a:r>
                    </a:p>
                  </a:txBody>
                  <a:tcPr>
                    <a:solidFill>
                      <a:srgbClr val="F8F9FA"/>
                    </a:solidFill>
                  </a:tcPr>
                </a:tc>
                <a:tc>
                  <a:txBody>
                    <a:bodyPr/>
                    <a:lstStyle/>
                    <a:p>
                      <a:pPr algn="ctr"/>
                      <a:r>
                        <a:rPr sz="1000" b="0" i="0">
                          <a:solidFill>
                            <a:srgbClr val="2D2D2D"/>
                          </a:solidFill>
                          <a:latin typeface="Arial"/>
                        </a:rPr>
                        <a:t>160</a:t>
                      </a:r>
                    </a:p>
                  </a:txBody>
                  <a:tcPr>
                    <a:solidFill>
                      <a:srgbClr val="F8F9FA"/>
                    </a:solidFill>
                  </a:tcPr>
                </a:tc>
                <a:tc>
                  <a:txBody>
                    <a:bodyPr/>
                    <a:lstStyle/>
                    <a:p>
                      <a:pPr algn="ctr"/>
                      <a:r>
                        <a:rPr sz="1000" b="0" i="0">
                          <a:solidFill>
                            <a:srgbClr val="2D2D2D"/>
                          </a:solidFill>
                          <a:latin typeface="Arial"/>
                        </a:rPr>
                        <a:t>$9,600</a:t>
                      </a:r>
                    </a:p>
                  </a:txBody>
                  <a:tcPr>
                    <a:solidFill>
                      <a:srgbClr val="F8F9FA"/>
                    </a:solidFill>
                  </a:tcPr>
                </a:tc>
              </a:tr>
              <a:tr h="365760">
                <a:tc>
                  <a:txBody>
                    <a:bodyPr/>
                    <a:lstStyle/>
                    <a:p>
                      <a:pPr algn="l"/>
                      <a:r>
                        <a:rPr sz="1000" b="1" i="0">
                          <a:solidFill>
                            <a:srgbClr val="2D2D2D"/>
                          </a:solidFill>
                          <a:latin typeface="Arial"/>
                        </a:rPr>
                        <a:t>Software Engineer</a:t>
                      </a:r>
                    </a:p>
                  </a:txBody>
                  <a:tcPr>
                    <a:solidFill>
                      <a:srgbClr val="FFFFFF"/>
                    </a:solidFill>
                  </a:tcPr>
                </a:tc>
                <a:tc>
                  <a:txBody>
                    <a:bodyPr/>
                    <a:lstStyle/>
                    <a:p>
                      <a:pPr algn="ctr"/>
                      <a:r>
                        <a:rPr sz="1000" b="0" i="0">
                          <a:solidFill>
                            <a:srgbClr val="2D2D2D"/>
                          </a:solidFill>
                          <a:latin typeface="Arial"/>
                        </a:rPr>
                        <a:t>$38</a:t>
                      </a:r>
                    </a:p>
                  </a:txBody>
                  <a:tcPr>
                    <a:solidFill>
                      <a:srgbClr val="FFFFFF"/>
                    </a:solidFill>
                  </a:tcPr>
                </a:tc>
                <a:tc>
                  <a:txBody>
                    <a:bodyPr/>
                    <a:lstStyle/>
                    <a:p>
                      <a:pPr algn="ctr"/>
                      <a:r>
                        <a:rPr sz="1000" b="0" i="0">
                          <a:solidFill>
                            <a:srgbClr val="2D2D2D"/>
                          </a:solidFill>
                          <a:latin typeface="Arial"/>
                        </a:rPr>
                        <a:t>160</a:t>
                      </a:r>
                    </a:p>
                  </a:txBody>
                  <a:tcPr>
                    <a:solidFill>
                      <a:srgbClr val="FFFFFF"/>
                    </a:solidFill>
                  </a:tcPr>
                </a:tc>
                <a:tc>
                  <a:txBody>
                    <a:bodyPr/>
                    <a:lstStyle/>
                    <a:p>
                      <a:pPr algn="ctr"/>
                      <a:r>
                        <a:rPr sz="1000" b="0" i="0">
                          <a:solidFill>
                            <a:srgbClr val="2D2D2D"/>
                          </a:solidFill>
                          <a:latin typeface="Arial"/>
                        </a:rPr>
                        <a:t>$6,080</a:t>
                      </a:r>
                    </a:p>
                  </a:txBody>
                  <a:tcPr>
                    <a:solidFill>
                      <a:srgbClr val="FFFFFF"/>
                    </a:solidFill>
                  </a:tcPr>
                </a:tc>
              </a:tr>
              <a:tr h="365760">
                <a:tc>
                  <a:txBody>
                    <a:bodyPr/>
                    <a:lstStyle/>
                    <a:p>
                      <a:pPr algn="l"/>
                      <a:r>
                        <a:rPr sz="1000" b="1" i="0">
                          <a:solidFill>
                            <a:srgbClr val="2D2D2D"/>
                          </a:solidFill>
                          <a:latin typeface="Arial"/>
                        </a:rPr>
                        <a:t>QA Engineer</a:t>
                      </a:r>
                    </a:p>
                  </a:txBody>
                  <a:tcPr>
                    <a:solidFill>
                      <a:srgbClr val="F8F9FA"/>
                    </a:solidFill>
                  </a:tcPr>
                </a:tc>
                <a:tc>
                  <a:txBody>
                    <a:bodyPr/>
                    <a:lstStyle/>
                    <a:p>
                      <a:pPr algn="ctr"/>
                      <a:r>
                        <a:rPr sz="1000" b="0" i="0">
                          <a:solidFill>
                            <a:srgbClr val="2D2D2D"/>
                          </a:solidFill>
                          <a:latin typeface="Arial"/>
                        </a:rPr>
                        <a:t>$38</a:t>
                      </a:r>
                    </a:p>
                  </a:txBody>
                  <a:tcPr>
                    <a:solidFill>
                      <a:srgbClr val="F8F9FA"/>
                    </a:solidFill>
                  </a:tcPr>
                </a:tc>
                <a:tc>
                  <a:txBody>
                    <a:bodyPr/>
                    <a:lstStyle/>
                    <a:p>
                      <a:pPr algn="ctr"/>
                      <a:r>
                        <a:rPr sz="1000" b="0" i="0">
                          <a:solidFill>
                            <a:srgbClr val="2D2D2D"/>
                          </a:solidFill>
                          <a:latin typeface="Arial"/>
                        </a:rPr>
                        <a:t>80</a:t>
                      </a:r>
                    </a:p>
                  </a:txBody>
                  <a:tcPr>
                    <a:solidFill>
                      <a:srgbClr val="F8F9FA"/>
                    </a:solidFill>
                  </a:tcPr>
                </a:tc>
                <a:tc>
                  <a:txBody>
                    <a:bodyPr/>
                    <a:lstStyle/>
                    <a:p>
                      <a:pPr algn="ctr"/>
                      <a:r>
                        <a:rPr sz="1000" b="0" i="0">
                          <a:solidFill>
                            <a:srgbClr val="2D2D2D"/>
                          </a:solidFill>
                          <a:latin typeface="Arial"/>
                        </a:rPr>
                        <a:t>$3,040</a:t>
                      </a:r>
                    </a:p>
                  </a:txBody>
                  <a:tcPr>
                    <a:solidFill>
                      <a:srgbClr val="F8F9FA"/>
                    </a:solidFill>
                  </a:tcPr>
                </a:tc>
              </a:tr>
              <a:tr h="365760">
                <a:tc>
                  <a:txBody>
                    <a:bodyPr/>
                    <a:lstStyle/>
                    <a:p>
                      <a:pPr algn="l"/>
                      <a:r>
                        <a:rPr sz="1100" b="1" i="0">
                          <a:solidFill>
                            <a:srgbClr val="FFFFFF"/>
                          </a:solidFill>
                          <a:latin typeface="Arial"/>
                        </a:rPr>
                        <a:t>Total Assumption</a:t>
                      </a:r>
                    </a:p>
                  </a:txBody>
                  <a:tcPr>
                    <a:solidFill>
                      <a:srgbClr val="D04A02"/>
                    </a:solidFill>
                  </a:tcPr>
                </a:tc>
                <a:tc>
                  <a:txBody>
                    <a:bodyPr/>
                    <a:lstStyle/>
                    <a:p>
                      <a:pPr algn="ctr"/>
                      <a:r>
                        <a:rPr sz="1100" b="1" i="0">
                          <a:solidFill>
                            <a:srgbClr val="FFFFFF"/>
                          </a:solidFill>
                          <a:latin typeface="Arial"/>
                        </a:rPr>
                        <a:t>$100,196</a:t>
                      </a:r>
                    </a:p>
                  </a:txBody>
                  <a:tcPr>
                    <a:solidFill>
                      <a:srgbClr val="D04A02"/>
                    </a:solidFill>
                  </a:tcPr>
                </a:tc>
                <a:tc>
                  <a:txBody>
                    <a:bodyPr/>
                    <a:lstStyle/>
                    <a:p>
                      <a:pPr algn="ctr"/>
                      <a:r>
                        <a:rPr sz="1100" b="1" i="0">
                          <a:solidFill>
                            <a:srgbClr val="FFFFFF"/>
                          </a:solidFill>
                          <a:latin typeface="Arial"/>
                        </a:rPr>
                        <a:t> </a:t>
                      </a:r>
                    </a:p>
                  </a:txBody>
                  <a:tcPr>
                    <a:solidFill>
                      <a:srgbClr val="D04A02"/>
                    </a:solidFill>
                  </a:tcPr>
                </a:tc>
                <a:tc>
                  <a:txBody>
                    <a:bodyPr/>
                    <a:lstStyle/>
                    <a:p>
                      <a:pPr algn="ctr"/>
                      <a:r>
                        <a:rPr sz="1100" b="1" i="0">
                          <a:solidFill>
                            <a:srgbClr val="FFFFFF"/>
                          </a:solidFill>
                          <a:latin typeface="Arial"/>
                        </a:rPr>
                        <a:t>$8,023,520</a:t>
                      </a:r>
                    </a:p>
                  </a:txBody>
                  <a:tcPr>
                    <a:solidFill>
                      <a:srgbClr val="D04A02"/>
                    </a:solidFill>
                  </a:tcPr>
                </a:tc>
              </a:tr>
            </a:tbl>
          </a:graphicData>
        </a:graphic>
      </p:graphicFrame>
      <p:sp>
        <p:nvSpPr>
          <p:cNvPr id="8" name="TextBox 7"/>
          <p:cNvSpPr txBox="1"/>
          <p:nvPr/>
        </p:nvSpPr>
        <p:spPr>
          <a:xfrm>
            <a:off x="457200" y="4206240"/>
            <a:ext cx="8229600" cy="731520"/>
          </a:xfrm>
          <a:prstGeom prst="rect">
            <a:avLst/>
          </a:prstGeom>
          <a:noFill/>
        </p:spPr>
        <p:txBody>
          <a:bodyPr wrap="square">
            <a:spAutoFit/>
          </a:bodyPr>
          <a:lstStyle/>
          <a:p>
            <a:r>
              <a:rPr sz="1000" b="0" i="1">
                <a:solidFill>
                  <a:srgbClr val="2D2D2D"/>
                </a:solidFill>
                <a:latin typeface="Arial"/>
              </a:rPr>
              <a:t>Disclaimer: Please note that this high-level estimate is subject to change as it depends on detailed client requirements. All resource and pricing calculations reflect the median baseline for similar enterprise integrations.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9144000" cy="4572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8229600" cy="457200"/>
          </a:xfrm>
          <a:prstGeom prst="rect">
            <a:avLst/>
          </a:prstGeom>
          <a:noFill/>
        </p:spPr>
        <p:txBody>
          <a:bodyPr wrap="square" tIns="18288" bIns="18288">
            <a:spAutoFit/>
          </a:bodyPr>
          <a:lstStyle/>
          <a:p>
            <a:pPr algn="l"/>
            <a:r>
              <a:rPr sz="2400" b="1" i="0">
                <a:solidFill>
                  <a:srgbClr val="2D2D2D"/>
                </a:solidFill>
                <a:latin typeface="Arial"/>
              </a:rPr>
              <a:t>Skills Inventory &amp; Competency Mapping</a:t>
            </a:r>
          </a:p>
          <a:p>
            <a:r>
              <a:rPr sz="900" b="0" i="0">
                <a:solidFill>
                  <a:srgbClr val="EBA300"/>
                </a:solidFill>
                <a:latin typeface="Arial"/>
              </a:rPr>
              <a:t>Required technical capabilities grounded in organizational assets</a:t>
            </a:r>
          </a:p>
        </p:txBody>
      </p:sp>
      <p:sp>
        <p:nvSpPr>
          <p:cNvPr id="5" name="Rectangle 4"/>
          <p:cNvSpPr/>
          <p:nvPr/>
        </p:nvSpPr>
        <p:spPr>
          <a:xfrm>
            <a:off x="0" y="6492240"/>
            <a:ext cx="9144000" cy="3657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8229600" cy="274320"/>
          </a:xfrm>
          <a:prstGeom prst="rect">
            <a:avLst/>
          </a:prstGeom>
          <a:noFill/>
        </p:spPr>
        <p:txBody>
          <a:bodyPr wrap="none">
            <a:spAutoFit/>
          </a:bodyPr>
          <a:lstStyle/>
          <a:p>
            <a:pPr algn="l"/>
            <a:r>
              <a:rPr sz="800" b="0" i="0">
                <a:solidFill>
                  <a:srgbClr val="2D2D2D"/>
                </a:solidFill>
                <a:latin typeface="Arial"/>
              </a:rPr>
              <a:t>Solution Advisory  |  Autonomous Bid Lifecycle Platform  |  AI Draft - For Internal Review Only</a:t>
            </a:r>
          </a:p>
        </p:txBody>
      </p:sp>
      <p:graphicFrame>
        <p:nvGraphicFramePr>
          <p:cNvPr id="7" name="Table 6"/>
          <p:cNvGraphicFramePr>
            <a:graphicFrameLocks noGrp="1"/>
          </p:cNvGraphicFramePr>
          <p:nvPr/>
        </p:nvGraphicFramePr>
        <p:xfrm>
          <a:off x="457200" y="1371600"/>
          <a:ext cx="8229600" cy="219456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lgn="ctr"/>
                      <a:r>
                        <a:rPr sz="1100" b="1" i="0">
                          <a:solidFill>
                            <a:srgbClr val="FFFFFF"/>
                          </a:solidFill>
                          <a:latin typeface="Arial"/>
                        </a:rPr>
                        <a:t>Technical Skill</a:t>
                      </a:r>
                    </a:p>
                  </a:txBody>
                  <a:tcPr>
                    <a:solidFill>
                      <a:srgbClr val="D04A02"/>
                    </a:solidFill>
                  </a:tcPr>
                </a:tc>
                <a:tc>
                  <a:txBody>
                    <a:bodyPr/>
                    <a:lstStyle/>
                    <a:p>
                      <a:pPr algn="ctr"/>
                      <a:r>
                        <a:rPr sz="1100" b="1" i="0">
                          <a:solidFill>
                            <a:srgbClr val="FFFFFF"/>
                          </a:solidFill>
                          <a:latin typeface="Arial"/>
                        </a:rPr>
                        <a:t>Target Project Role</a:t>
                      </a:r>
                    </a:p>
                  </a:txBody>
                  <a:tcPr>
                    <a:solidFill>
                      <a:srgbClr val="D04A02"/>
                    </a:solidFill>
                  </a:tcPr>
                </a:tc>
              </a:tr>
              <a:tr h="365760">
                <a:tc>
                  <a:txBody>
                    <a:bodyPr/>
                    <a:lstStyle/>
                    <a:p>
                      <a:pPr algn="l"/>
                      <a:r>
                        <a:rPr sz="1000" b="1" i="0">
                          <a:solidFill>
                            <a:srgbClr val="2D2D2D"/>
                          </a:solidFill>
                          <a:latin typeface="Arial"/>
                        </a:rPr>
                        <a:t>React.js</a:t>
                      </a:r>
                    </a:p>
                  </a:txBody>
                  <a:tcPr>
                    <a:solidFill>
                      <a:srgbClr val="F8F9FA"/>
                    </a:solidFill>
                  </a:tcPr>
                </a:tc>
                <a:tc>
                  <a:txBody>
                    <a:bodyPr/>
                    <a:lstStyle/>
                    <a:p>
                      <a:pPr algn="l"/>
                      <a:r>
                        <a:rPr sz="1000" b="0" i="0">
                          <a:solidFill>
                            <a:srgbClr val="2D2D2D"/>
                          </a:solidFill>
                          <a:latin typeface="Arial"/>
                        </a:rPr>
                        <a:t>Front-End Developer (React)</a:t>
                      </a:r>
                    </a:p>
                  </a:txBody>
                  <a:tcPr>
                    <a:solidFill>
                      <a:srgbClr val="F8F9FA"/>
                    </a:solidFill>
                  </a:tcPr>
                </a:tc>
              </a:tr>
              <a:tr h="365760">
                <a:tc>
                  <a:txBody>
                    <a:bodyPr/>
                    <a:lstStyle/>
                    <a:p>
                      <a:pPr algn="l"/>
                      <a:r>
                        <a:rPr sz="1000" b="1" i="0">
                          <a:solidFill>
                            <a:srgbClr val="2D2D2D"/>
                          </a:solidFill>
                          <a:latin typeface="Arial"/>
                        </a:rPr>
                        <a:t>Node.js/Express.js</a:t>
                      </a:r>
                    </a:p>
                  </a:txBody>
                  <a:tcPr>
                    <a:solidFill>
                      <a:srgbClr val="FFFFFF"/>
                    </a:solidFill>
                  </a:tcPr>
                </a:tc>
                <a:tc>
                  <a:txBody>
                    <a:bodyPr/>
                    <a:lstStyle/>
                    <a:p>
                      <a:pPr algn="l"/>
                      <a:r>
                        <a:rPr sz="1000" b="0" i="0">
                          <a:solidFill>
                            <a:srgbClr val="2D2D2D"/>
                          </a:solidFill>
                          <a:latin typeface="Arial"/>
                        </a:rPr>
                        <a:t>Back-End Developer (APIs)</a:t>
                      </a:r>
                    </a:p>
                  </a:txBody>
                  <a:tcPr>
                    <a:solidFill>
                      <a:srgbClr val="FFFFFF"/>
                    </a:solidFill>
                  </a:tcPr>
                </a:tc>
              </a:tr>
              <a:tr h="365760">
                <a:tc>
                  <a:txBody>
                    <a:bodyPr/>
                    <a:lstStyle/>
                    <a:p>
                      <a:pPr algn="l"/>
                      <a:r>
                        <a:rPr sz="1000" b="1" i="0">
                          <a:solidFill>
                            <a:srgbClr val="2D2D2D"/>
                          </a:solidFill>
                          <a:latin typeface="Arial"/>
                        </a:rPr>
                        <a:t>Docker/Kubernetes</a:t>
                      </a:r>
                    </a:p>
                  </a:txBody>
                  <a:tcPr>
                    <a:solidFill>
                      <a:srgbClr val="F8F9FA"/>
                    </a:solidFill>
                  </a:tcPr>
                </a:tc>
                <a:tc>
                  <a:txBody>
                    <a:bodyPr/>
                    <a:lstStyle/>
                    <a:p>
                      <a:pPr algn="l"/>
                      <a:r>
                        <a:rPr sz="1000" b="0" i="0">
                          <a:solidFill>
                            <a:srgbClr val="2D2D2D"/>
                          </a:solidFill>
                          <a:latin typeface="Arial"/>
                        </a:rPr>
                        <a:t>DevOps Engineer</a:t>
                      </a:r>
                    </a:p>
                  </a:txBody>
                  <a:tcPr>
                    <a:solidFill>
                      <a:srgbClr val="F8F9FA"/>
                    </a:solidFill>
                  </a:tcPr>
                </a:tc>
              </a:tr>
              <a:tr h="365760">
                <a:tc>
                  <a:txBody>
                    <a:bodyPr/>
                    <a:lstStyle/>
                    <a:p>
                      <a:pPr algn="l"/>
                      <a:r>
                        <a:rPr sz="1000" b="1" i="0">
                          <a:solidFill>
                            <a:srgbClr val="2D2D2D"/>
                          </a:solidFill>
                          <a:latin typeface="Arial"/>
                        </a:rPr>
                        <a:t>CI/CD Pipelines</a:t>
                      </a:r>
                    </a:p>
                  </a:txBody>
                  <a:tcPr>
                    <a:solidFill>
                      <a:srgbClr val="FFFFFF"/>
                    </a:solidFill>
                  </a:tcPr>
                </a:tc>
                <a:tc>
                  <a:txBody>
                    <a:bodyPr/>
                    <a:lstStyle/>
                    <a:p>
                      <a:pPr algn="l"/>
                      <a:r>
                        <a:rPr sz="1000" b="0" i="0">
                          <a:solidFill>
                            <a:srgbClr val="2D2D2D"/>
                          </a:solidFill>
                          <a:latin typeface="Arial"/>
                        </a:rPr>
                        <a:t>DevOps Engineer</a:t>
                      </a:r>
                    </a:p>
                  </a:txBody>
                  <a:tcPr>
                    <a:solidFill>
                      <a:srgbClr val="FFFFFF"/>
                    </a:solidFill>
                  </a:tcPr>
                </a:tc>
              </a:tr>
              <a:tr h="365760">
                <a:tc>
                  <a:txBody>
                    <a:bodyPr/>
                    <a:lstStyle/>
                    <a:p>
                      <a:pPr algn="l"/>
                      <a:r>
                        <a:rPr sz="1000" b="1" i="0">
                          <a:solidFill>
                            <a:srgbClr val="2D2D2D"/>
                          </a:solidFill>
                          <a:latin typeface="Arial"/>
                        </a:rPr>
                        <a:t>Database Management</a:t>
                      </a:r>
                    </a:p>
                  </a:txBody>
                  <a:tcPr>
                    <a:solidFill>
                      <a:srgbClr val="F8F9FA"/>
                    </a:solidFill>
                  </a:tcPr>
                </a:tc>
                <a:tc>
                  <a:txBody>
                    <a:bodyPr/>
                    <a:lstStyle/>
                    <a:p>
                      <a:pPr algn="l"/>
                      <a:r>
                        <a:rPr sz="1000" b="0" i="0">
                          <a:solidFill>
                            <a:srgbClr val="2D2D2D"/>
                          </a:solidFill>
                          <a:latin typeface="Arial"/>
                        </a:rPr>
                        <a:t>Database Administrator</a:t>
                      </a:r>
                    </a:p>
                  </a:txBody>
                  <a:tcPr>
                    <a:solidFill>
                      <a:srgbClr val="F8F9FA"/>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9144000" cy="4572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457200"/>
          </a:xfrm>
          <a:prstGeom prst="rect">
            <a:avLst/>
          </a:prstGeom>
          <a:noFill/>
        </p:spPr>
        <p:txBody>
          <a:bodyPr wrap="square" tIns="18288" bIns="18288">
            <a:spAutoFit/>
          </a:bodyPr>
          <a:lstStyle/>
          <a:p>
            <a:pPr algn="l"/>
            <a:r>
              <a:rPr sz="2400" b="1" i="0">
                <a:solidFill>
                  <a:srgbClr val="2D2D2D"/>
                </a:solidFill>
                <a:latin typeface="Arial"/>
              </a:rPr>
              <a:t>Reference Architecture</a:t>
            </a:r>
          </a:p>
          <a:p>
            <a:r>
              <a:rPr sz="900" b="0" i="0">
                <a:solidFill>
                  <a:srgbClr val="EBA300"/>
                </a:solidFill>
                <a:latin typeface="Arial"/>
              </a:rPr>
              <a:t>Enterprise logical data patterns</a:t>
            </a:r>
          </a:p>
        </p:txBody>
      </p:sp>
      <p:sp>
        <p:nvSpPr>
          <p:cNvPr id="6" name="Rectangle 5"/>
          <p:cNvSpPr/>
          <p:nvPr/>
        </p:nvSpPr>
        <p:spPr>
          <a:xfrm>
            <a:off x="0" y="6492240"/>
            <a:ext cx="9144000" cy="3657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8229600" cy="274320"/>
          </a:xfrm>
          <a:prstGeom prst="rect">
            <a:avLst/>
          </a:prstGeom>
          <a:noFill/>
        </p:spPr>
        <p:txBody>
          <a:bodyPr wrap="none">
            <a:spAutoFit/>
          </a:bodyPr>
          <a:lstStyle/>
          <a:p>
            <a:pPr algn="l"/>
            <a:r>
              <a:rPr sz="800" b="0" i="0">
                <a:solidFill>
                  <a:srgbClr val="2D2D2D"/>
                </a:solidFill>
                <a:latin typeface="Arial"/>
              </a:rPr>
              <a:t>Solution Advisory  |  Autonomous Bid Lifecycle Platform  |  AI Draft - For Internal Review Only</a:t>
            </a:r>
          </a:p>
        </p:txBody>
      </p:sp>
      <p:sp>
        <p:nvSpPr>
          <p:cNvPr id="8" name="TextBox 7"/>
          <p:cNvSpPr txBox="1"/>
          <p:nvPr/>
        </p:nvSpPr>
        <p:spPr>
          <a:xfrm>
            <a:off x="457200" y="914400"/>
            <a:ext cx="8229600" cy="365760"/>
          </a:xfrm>
          <a:prstGeom prst="rect">
            <a:avLst/>
          </a:prstGeom>
          <a:noFill/>
        </p:spPr>
        <p:txBody>
          <a:bodyPr wrap="none">
            <a:spAutoFit/>
          </a:bodyPr>
          <a:lstStyle/>
          <a:p>
            <a:r>
              <a:rPr sz="1400" b="1" i="0">
                <a:solidFill>
                  <a:srgbClr val="2D2D2D"/>
                </a:solidFill>
                <a:latin typeface="Arial"/>
              </a:rPr>
              <a:t>Logical Reference Architecture &amp; Component Topology</a:t>
            </a:r>
          </a:p>
        </p:txBody>
      </p:sp>
      <p:pic>
        <p:nvPicPr>
          <p:cNvPr id="9" name="Picture 8" descr="mermaid_e9322d8047830740.png"/>
          <p:cNvPicPr>
            <a:picLocks noChangeAspect="1"/>
          </p:cNvPicPr>
          <p:nvPr/>
        </p:nvPicPr>
        <p:blipFill>
          <a:blip r:embed="rId2"/>
          <a:stretch>
            <a:fillRect/>
          </a:stretch>
        </p:blipFill>
        <p:spPr>
          <a:xfrm>
            <a:off x="182880" y="3282234"/>
            <a:ext cx="8778240" cy="120793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9144000" cy="4572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457200"/>
          </a:xfrm>
          <a:prstGeom prst="rect">
            <a:avLst/>
          </a:prstGeom>
          <a:noFill/>
        </p:spPr>
        <p:txBody>
          <a:bodyPr wrap="square" tIns="18288" bIns="18288">
            <a:spAutoFit/>
          </a:bodyPr>
          <a:lstStyle/>
          <a:p>
            <a:pPr algn="l"/>
            <a:r>
              <a:rPr sz="2400" b="1" i="0">
                <a:solidFill>
                  <a:srgbClr val="2D2D2D"/>
                </a:solidFill>
                <a:latin typeface="Arial"/>
              </a:rPr>
              <a:t>Landscape Architecture (Azure Cloud Platform)</a:t>
            </a:r>
          </a:p>
          <a:p>
            <a:r>
              <a:rPr sz="900" b="0" i="0">
                <a:solidFill>
                  <a:srgbClr val="EBA300"/>
                </a:solidFill>
                <a:latin typeface="Arial"/>
              </a:rPr>
              <a:t>Azure Native Services &amp; Integration Topology</a:t>
            </a:r>
          </a:p>
        </p:txBody>
      </p:sp>
      <p:sp>
        <p:nvSpPr>
          <p:cNvPr id="6" name="Rectangle 5"/>
          <p:cNvSpPr/>
          <p:nvPr/>
        </p:nvSpPr>
        <p:spPr>
          <a:xfrm>
            <a:off x="0" y="6492240"/>
            <a:ext cx="9144000" cy="3657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8229600" cy="274320"/>
          </a:xfrm>
          <a:prstGeom prst="rect">
            <a:avLst/>
          </a:prstGeom>
          <a:noFill/>
        </p:spPr>
        <p:txBody>
          <a:bodyPr wrap="none">
            <a:spAutoFit/>
          </a:bodyPr>
          <a:lstStyle/>
          <a:p>
            <a:pPr algn="l"/>
            <a:r>
              <a:rPr sz="800" b="0" i="0">
                <a:solidFill>
                  <a:srgbClr val="2D2D2D"/>
                </a:solidFill>
                <a:latin typeface="Arial"/>
              </a:rPr>
              <a:t>Solution Advisory  |  Autonomous Bid Lifecycle Platform  |  AI Draft - For Internal Review Only</a:t>
            </a:r>
          </a:p>
        </p:txBody>
      </p:sp>
      <p:sp>
        <p:nvSpPr>
          <p:cNvPr id="8" name="TextBox 7"/>
          <p:cNvSpPr txBox="1"/>
          <p:nvPr/>
        </p:nvSpPr>
        <p:spPr>
          <a:xfrm>
            <a:off x="457200" y="914400"/>
            <a:ext cx="8229600" cy="365760"/>
          </a:xfrm>
          <a:prstGeom prst="rect">
            <a:avLst/>
          </a:prstGeom>
          <a:noFill/>
        </p:spPr>
        <p:txBody>
          <a:bodyPr wrap="none">
            <a:spAutoFit/>
          </a:bodyPr>
          <a:lstStyle/>
          <a:p>
            <a:r>
              <a:rPr sz="1400" b="1" i="0">
                <a:solidFill>
                  <a:srgbClr val="2D2D2D"/>
                </a:solidFill>
                <a:latin typeface="Arial"/>
              </a:rPr>
              <a:t>Azure Cloud Native Deployment Topology</a:t>
            </a:r>
          </a:p>
        </p:txBody>
      </p:sp>
      <p:pic>
        <p:nvPicPr>
          <p:cNvPr id="9" name="Picture 8" descr="mermaid_f622921a8f9c0a19.png"/>
          <p:cNvPicPr>
            <a:picLocks noChangeAspect="1"/>
          </p:cNvPicPr>
          <p:nvPr/>
        </p:nvPicPr>
        <p:blipFill>
          <a:blip r:embed="rId2"/>
          <a:stretch>
            <a:fillRect/>
          </a:stretch>
        </p:blipFill>
        <p:spPr>
          <a:xfrm>
            <a:off x="182880" y="3035577"/>
            <a:ext cx="8778240" cy="170124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9144000" cy="4572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8229600" cy="457200"/>
          </a:xfrm>
          <a:prstGeom prst="rect">
            <a:avLst/>
          </a:prstGeom>
          <a:noFill/>
        </p:spPr>
        <p:txBody>
          <a:bodyPr wrap="square" tIns="18288" bIns="18288">
            <a:spAutoFit/>
          </a:bodyPr>
          <a:lstStyle/>
          <a:p>
            <a:pPr algn="l"/>
            <a:r>
              <a:rPr sz="1400" b="1" i="0">
                <a:solidFill>
                  <a:srgbClr val="2D2D2D"/>
                </a:solidFill>
                <a:latin typeface="Arial"/>
              </a:rPr>
              <a:t>Case Study 1: Agile Test Automation Framework (Financial Services Firm in Europe)</a:t>
            </a:r>
          </a:p>
          <a:p>
            <a:r>
              <a:rPr sz="900" b="0" i="0">
                <a:solidFill>
                  <a:srgbClr val="EBA300"/>
                </a:solidFill>
                <a:latin typeface="Arial"/>
              </a:rPr>
              <a:t>Past credentials and successful delivery outcomes</a:t>
            </a:r>
          </a:p>
        </p:txBody>
      </p:sp>
      <p:sp>
        <p:nvSpPr>
          <p:cNvPr id="5" name="Rectangle 4"/>
          <p:cNvSpPr/>
          <p:nvPr/>
        </p:nvSpPr>
        <p:spPr>
          <a:xfrm>
            <a:off x="0" y="6492240"/>
            <a:ext cx="9144000" cy="3657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8229600" cy="274320"/>
          </a:xfrm>
          <a:prstGeom prst="rect">
            <a:avLst/>
          </a:prstGeom>
          <a:noFill/>
        </p:spPr>
        <p:txBody>
          <a:bodyPr wrap="none">
            <a:spAutoFit/>
          </a:bodyPr>
          <a:lstStyle/>
          <a:p>
            <a:pPr algn="l"/>
            <a:r>
              <a:rPr sz="800" b="0" i="0">
                <a:solidFill>
                  <a:srgbClr val="2D2D2D"/>
                </a:solidFill>
                <a:latin typeface="Arial"/>
              </a:rPr>
              <a:t>Solution Advisory  |  Autonomous Bid Lifecycle Platform  |  AI Draft - For Internal Review Only</a:t>
            </a:r>
          </a:p>
        </p:txBody>
      </p:sp>
      <p:sp>
        <p:nvSpPr>
          <p:cNvPr id="7" name="Rectangle 6"/>
          <p:cNvSpPr/>
          <p:nvPr/>
        </p:nvSpPr>
        <p:spPr>
          <a:xfrm>
            <a:off x="457200" y="1371600"/>
            <a:ext cx="3931920" cy="4754880"/>
          </a:xfrm>
          <a:prstGeom prst="rect">
            <a:avLst/>
          </a:prstGeom>
          <a:solidFill>
            <a:srgbClr val="FFFFFF"/>
          </a:solidFill>
          <a:ln w="1270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34440"/>
            <a:ext cx="2011680" cy="274320"/>
          </a:xfrm>
          <a:prstGeom prst="rect">
            <a:avLst/>
          </a:prstGeom>
          <a:solidFill>
            <a:srgbClr val="FFFFFF"/>
          </a:solidFill>
          <a:ln>
            <a:noFill/>
          </a:ln>
        </p:spPr>
        <p:txBody>
          <a:bodyPr wrap="square" lIns="45720" rIns="45720" tIns="0" bIns="0">
            <a:spAutoFit/>
          </a:bodyPr>
          <a:lstStyle/>
          <a:p>
            <a:r>
              <a:rPr sz="1100" b="1" i="0">
                <a:solidFill>
                  <a:srgbClr val="2D2D2D"/>
                </a:solidFill>
                <a:latin typeface="Arial"/>
              </a:rPr>
              <a:t> High Level Summary </a:t>
            </a:r>
          </a:p>
        </p:txBody>
      </p:sp>
      <p:sp>
        <p:nvSpPr>
          <p:cNvPr id="9" name="TextBox 8"/>
          <p:cNvSpPr txBox="1"/>
          <p:nvPr/>
        </p:nvSpPr>
        <p:spPr>
          <a:xfrm>
            <a:off x="548640" y="1554480"/>
            <a:ext cx="3749039" cy="4480560"/>
          </a:xfrm>
          <a:prstGeom prst="rect">
            <a:avLst/>
          </a:prstGeom>
          <a:noFill/>
        </p:spPr>
        <p:txBody>
          <a:bodyPr wrap="square" lIns="0" rIns="0" tIns="0" bIns="0">
            <a:spAutoFit/>
          </a:bodyPr>
          <a:lstStyle/>
          <a:p>
            <a:pPr>
              <a:spcAft>
                <a:spcPts val="200"/>
              </a:spcAft>
            </a:pPr>
            <a:r>
              <a:rPr sz="1100" b="1" i="0">
                <a:solidFill>
                  <a:srgbClr val="2D2D2D"/>
                </a:solidFill>
                <a:latin typeface="Arial"/>
              </a:rPr>
              <a:t>Business Problem</a:t>
            </a:r>
          </a:p>
          <a:p>
            <a:pPr>
              <a:spcAft>
                <a:spcPts val="200"/>
              </a:spcAft>
            </a:pPr>
            <a:r>
              <a:rPr sz="750" b="0" i="0">
                <a:solidFill>
                  <a:srgbClr val="2D2D2D"/>
                </a:solidFill>
                <a:latin typeface="Arial"/>
              </a:rPr>
              <a:t>• Manual test case creation was time-consuming and error-prone.</a:t>
            </a:r>
          </a:p>
          <a:p>
            <a:pPr>
              <a:spcAft>
                <a:spcPts val="200"/>
              </a:spcAft>
            </a:pPr>
            <a:r>
              <a:rPr sz="750" b="0" i="0">
                <a:solidFill>
                  <a:srgbClr val="2D2D2D"/>
                </a:solidFill>
                <a:latin typeface="Arial"/>
              </a:rPr>
              <a:t>• Lack of integration with CI/CD pipelines led to delayed feedback loops.</a:t>
            </a:r>
          </a:p>
          <a:p>
            <a:pPr>
              <a:spcAft>
                <a:spcPts val="200"/>
              </a:spcAft>
            </a:pPr>
            <a:r>
              <a:rPr sz="750" b="0" i="0">
                <a:solidFill>
                  <a:srgbClr val="2D2D2D"/>
                </a:solidFill>
                <a:latin typeface="Arial"/>
              </a:rPr>
              <a:t>• Inconsistent test coverage across different modules.</a:t>
            </a:r>
          </a:p>
          <a:p>
            <a:pPr>
              <a:spcAft>
                <a:spcPts val="200"/>
              </a:spcAft>
            </a:pPr>
          </a:p>
          <a:p>
            <a:pPr>
              <a:spcAft>
                <a:spcPts val="200"/>
              </a:spcAft>
            </a:pPr>
            <a:r>
              <a:rPr sz="1100" b="1" i="0">
                <a:solidFill>
                  <a:srgbClr val="2D2D2D"/>
                </a:solidFill>
                <a:latin typeface="Arial"/>
              </a:rPr>
              <a:t>Our Approach</a:t>
            </a:r>
          </a:p>
          <a:p>
            <a:pPr>
              <a:spcAft>
                <a:spcPts val="200"/>
              </a:spcAft>
            </a:pPr>
            <a:r>
              <a:rPr sz="750" b="0" i="0">
                <a:solidFill>
                  <a:srgbClr val="2D2D2D"/>
                </a:solidFill>
                <a:latin typeface="Arial"/>
              </a:rPr>
              <a:t>• Developed an automated test generation framework using AI.</a:t>
            </a:r>
          </a:p>
          <a:p>
            <a:pPr>
              <a:spcAft>
                <a:spcPts val="200"/>
              </a:spcAft>
            </a:pPr>
            <a:r>
              <a:rPr sz="750" b="0" i="0">
                <a:solidFill>
                  <a:srgbClr val="2D2D2D"/>
                </a:solidFill>
                <a:latin typeface="Arial"/>
              </a:rPr>
              <a:t>• Integrated the framework with existing CI/CD pipelines for continuous testing.</a:t>
            </a:r>
          </a:p>
          <a:p>
            <a:pPr>
              <a:spcAft>
                <a:spcPts val="200"/>
              </a:spcAft>
            </a:pPr>
            <a:r>
              <a:rPr sz="750" b="0" i="0">
                <a:solidFill>
                  <a:srgbClr val="2D2D2D"/>
                </a:solidFill>
                <a:latin typeface="Arial"/>
              </a:rPr>
              <a:t>• Implemented a comprehensive dashboard for real-time test coverage and results tracking.</a:t>
            </a:r>
          </a:p>
        </p:txBody>
      </p:sp>
      <p:sp>
        <p:nvSpPr>
          <p:cNvPr id="10" name="Rectangle 9"/>
          <p:cNvSpPr/>
          <p:nvPr/>
        </p:nvSpPr>
        <p:spPr>
          <a:xfrm>
            <a:off x="4572000" y="1371600"/>
            <a:ext cx="4114800" cy="3291840"/>
          </a:xfrm>
          <a:prstGeom prst="rect">
            <a:avLst/>
          </a:prstGeom>
          <a:solidFill>
            <a:srgbClr val="FFFFFF"/>
          </a:solidFill>
          <a:ln w="1270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1234440"/>
            <a:ext cx="2011680" cy="274320"/>
          </a:xfrm>
          <a:prstGeom prst="rect">
            <a:avLst/>
          </a:prstGeom>
          <a:solidFill>
            <a:srgbClr val="FFFFFF"/>
          </a:solidFill>
          <a:ln>
            <a:noFill/>
          </a:ln>
        </p:spPr>
        <p:txBody>
          <a:bodyPr wrap="square" lIns="45720" rIns="45720" tIns="0" bIns="0">
            <a:spAutoFit/>
          </a:bodyPr>
          <a:lstStyle/>
          <a:p>
            <a:r>
              <a:rPr sz="1100" b="1" i="0">
                <a:solidFill>
                  <a:srgbClr val="2D2D2D"/>
                </a:solidFill>
                <a:latin typeface="Arial"/>
              </a:rPr>
              <a:t> Technical Architecture </a:t>
            </a:r>
          </a:p>
        </p:txBody>
      </p:sp>
      <p:pic>
        <p:nvPicPr>
          <p:cNvPr id="12" name="Picture 11" descr="mermaid_825456b5d76c30be.png"/>
          <p:cNvPicPr>
            <a:picLocks noChangeAspect="1"/>
          </p:cNvPicPr>
          <p:nvPr/>
        </p:nvPicPr>
        <p:blipFill>
          <a:blip r:embed="rId2"/>
          <a:stretch>
            <a:fillRect/>
          </a:stretch>
        </p:blipFill>
        <p:spPr>
          <a:xfrm>
            <a:off x="4663440" y="1645920"/>
            <a:ext cx="3931920" cy="1554480"/>
          </a:xfrm>
          <a:prstGeom prst="rect">
            <a:avLst/>
          </a:prstGeom>
        </p:spPr>
      </p:pic>
      <p:sp>
        <p:nvSpPr>
          <p:cNvPr id="13" name="Rectangle 12"/>
          <p:cNvSpPr/>
          <p:nvPr/>
        </p:nvSpPr>
        <p:spPr>
          <a:xfrm>
            <a:off x="4663440" y="3383280"/>
            <a:ext cx="1234440" cy="1188720"/>
          </a:xfrm>
          <a:prstGeom prst="rect">
            <a:avLst/>
          </a:prstGeom>
          <a:solidFill>
            <a:srgbClr val="F8F9FA"/>
          </a:solidFill>
          <a:ln w="635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ts val="850"/>
              </a:lnSpc>
              <a:spcBef>
                <a:spcPts val="0"/>
              </a:spcBef>
              <a:spcAft>
                <a:spcPts val="0"/>
              </a:spcAft>
            </a:pPr>
            <a:r>
              <a:rPr sz="700" b="0" i="0">
                <a:solidFill>
                  <a:srgbClr val="2D2D2D"/>
                </a:solidFill>
                <a:latin typeface="Arial"/>
              </a:rPr>
              <a:t>User uploads artifacts via Web UI.</a:t>
            </a:r>
          </a:p>
        </p:txBody>
      </p:sp>
      <p:sp>
        <p:nvSpPr>
          <p:cNvPr id="14" name="Rectangle 13"/>
          <p:cNvSpPr/>
          <p:nvPr/>
        </p:nvSpPr>
        <p:spPr>
          <a:xfrm>
            <a:off x="5989320" y="3383280"/>
            <a:ext cx="1234440" cy="1188720"/>
          </a:xfrm>
          <a:prstGeom prst="rect">
            <a:avLst/>
          </a:prstGeom>
          <a:solidFill>
            <a:srgbClr val="F8F9FA"/>
          </a:solidFill>
          <a:ln w="635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ts val="850"/>
              </a:lnSpc>
              <a:spcBef>
                <a:spcPts val="0"/>
              </a:spcBef>
              <a:spcAft>
                <a:spcPts val="0"/>
              </a:spcAft>
            </a:pPr>
            <a:r>
              <a:rPr sz="700" b="0" i="0">
                <a:solidFill>
                  <a:srgbClr val="2D2D2D"/>
                </a:solidFill>
                <a:latin typeface="Arial"/>
              </a:rPr>
              <a:t>Artifacts processed and tests generated in Core API Server.</a:t>
            </a:r>
          </a:p>
        </p:txBody>
      </p:sp>
      <p:sp>
        <p:nvSpPr>
          <p:cNvPr id="15" name="Rectangle 14"/>
          <p:cNvSpPr/>
          <p:nvPr/>
        </p:nvSpPr>
        <p:spPr>
          <a:xfrm>
            <a:off x="7315200" y="3383280"/>
            <a:ext cx="1234440" cy="1188720"/>
          </a:xfrm>
          <a:prstGeom prst="rect">
            <a:avLst/>
          </a:prstGeom>
          <a:solidFill>
            <a:srgbClr val="F8F9FA"/>
          </a:solidFill>
          <a:ln w="635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ts val="850"/>
              </a:lnSpc>
              <a:spcBef>
                <a:spcPts val="0"/>
              </a:spcBef>
              <a:spcAft>
                <a:spcPts val="0"/>
              </a:spcAft>
            </a:pPr>
            <a:r>
              <a:rPr sz="700" b="0" i="0">
                <a:solidFill>
                  <a:srgbClr val="2D2D2D"/>
                </a:solidFill>
                <a:latin typeface="Arial"/>
              </a:rPr>
              <a:t>Generated tests reviewed and packaged for implementation.</a:t>
            </a:r>
          </a:p>
        </p:txBody>
      </p:sp>
      <p:sp>
        <p:nvSpPr>
          <p:cNvPr id="16" name="TextBox 15"/>
          <p:cNvSpPr txBox="1"/>
          <p:nvPr/>
        </p:nvSpPr>
        <p:spPr>
          <a:xfrm>
            <a:off x="4572000" y="4663440"/>
            <a:ext cx="2011680" cy="274320"/>
          </a:xfrm>
          <a:prstGeom prst="rect">
            <a:avLst/>
          </a:prstGeom>
          <a:noFill/>
        </p:spPr>
        <p:txBody>
          <a:bodyPr wrap="square">
            <a:spAutoFit/>
          </a:bodyPr>
          <a:lstStyle/>
          <a:p>
            <a:r>
              <a:rPr sz="1100" b="1" i="0">
                <a:solidFill>
                  <a:srgbClr val="2D2D2D"/>
                </a:solidFill>
                <a:latin typeface="Arial"/>
              </a:rPr>
              <a:t>Key Technologies</a:t>
            </a:r>
          </a:p>
        </p:txBody>
      </p:sp>
      <p:sp>
        <p:nvSpPr>
          <p:cNvPr id="17" name="TextBox 16"/>
          <p:cNvSpPr txBox="1"/>
          <p:nvPr/>
        </p:nvSpPr>
        <p:spPr>
          <a:xfrm>
            <a:off x="4572000" y="4937760"/>
            <a:ext cx="2011680" cy="1463040"/>
          </a:xfrm>
          <a:prstGeom prst="rect">
            <a:avLst/>
          </a:prstGeom>
          <a:noFill/>
        </p:spPr>
        <p:txBody>
          <a:bodyPr wrap="square" lIns="0" rIns="0" tIns="0" bIns="0">
            <a:spAutoFit/>
          </a:bodyPr>
          <a:lstStyle/>
          <a:p>
            <a:pPr>
              <a:spcAft>
                <a:spcPts val="100"/>
              </a:spcAft>
            </a:pPr>
            <a:r>
              <a:rPr sz="700" b="0" i="0">
                <a:solidFill>
                  <a:srgbClr val="2D2D2D"/>
                </a:solidFill>
                <a:latin typeface="Arial"/>
              </a:rPr>
              <a:t>• AI</a:t>
            </a:r>
          </a:p>
          <a:p>
            <a:pPr>
              <a:spcAft>
                <a:spcPts val="100"/>
              </a:spcAft>
            </a:pPr>
            <a:r>
              <a:rPr sz="700" b="0" i="0">
                <a:solidFill>
                  <a:srgbClr val="2D2D2D"/>
                </a:solidFill>
                <a:latin typeface="Arial"/>
              </a:rPr>
              <a:t>• CI/CD Pipelines</a:t>
            </a:r>
          </a:p>
          <a:p>
            <a:pPr>
              <a:spcAft>
                <a:spcPts val="100"/>
              </a:spcAft>
            </a:pPr>
            <a:r>
              <a:rPr sz="700" b="0" i="0">
                <a:solidFill>
                  <a:srgbClr val="2D2D2D"/>
                </a:solidFill>
                <a:latin typeface="Arial"/>
              </a:rPr>
              <a:t>• Dashboard</a:t>
            </a:r>
          </a:p>
        </p:txBody>
      </p:sp>
      <p:sp>
        <p:nvSpPr>
          <p:cNvPr id="18" name="TextBox 17"/>
          <p:cNvSpPr txBox="1"/>
          <p:nvPr/>
        </p:nvSpPr>
        <p:spPr>
          <a:xfrm>
            <a:off x="6675120" y="4663440"/>
            <a:ext cx="2011680" cy="274320"/>
          </a:xfrm>
          <a:prstGeom prst="rect">
            <a:avLst/>
          </a:prstGeom>
          <a:noFill/>
        </p:spPr>
        <p:txBody>
          <a:bodyPr wrap="square">
            <a:spAutoFit/>
          </a:bodyPr>
          <a:lstStyle/>
          <a:p>
            <a:r>
              <a:rPr sz="1100" b="1" i="0">
                <a:solidFill>
                  <a:srgbClr val="2D2D2D"/>
                </a:solidFill>
                <a:latin typeface="Arial"/>
              </a:rPr>
              <a:t>Benefits/Outcome</a:t>
            </a:r>
          </a:p>
        </p:txBody>
      </p:sp>
      <p:sp>
        <p:nvSpPr>
          <p:cNvPr id="19" name="TextBox 18"/>
          <p:cNvSpPr txBox="1"/>
          <p:nvPr/>
        </p:nvSpPr>
        <p:spPr>
          <a:xfrm>
            <a:off x="6675120" y="4937760"/>
            <a:ext cx="2011680" cy="1463040"/>
          </a:xfrm>
          <a:prstGeom prst="rect">
            <a:avLst/>
          </a:prstGeom>
          <a:noFill/>
        </p:spPr>
        <p:txBody>
          <a:bodyPr wrap="square" lIns="0" rIns="0" tIns="0" bIns="0">
            <a:spAutoFit/>
          </a:bodyPr>
          <a:lstStyle/>
          <a:p>
            <a:pPr>
              <a:spcAft>
                <a:spcPts val="100"/>
              </a:spcAft>
            </a:pPr>
            <a:r>
              <a:rPr sz="700" b="0" i="0">
                <a:solidFill>
                  <a:srgbClr val="2D2D2D"/>
                </a:solidFill>
                <a:latin typeface="Arial"/>
              </a:rPr>
              <a:t>• Reduced test creation time by 70%.</a:t>
            </a:r>
          </a:p>
          <a:p>
            <a:pPr>
              <a:spcAft>
                <a:spcPts val="100"/>
              </a:spcAft>
            </a:pPr>
            <a:r>
              <a:rPr sz="700" b="0" i="0">
                <a:solidFill>
                  <a:srgbClr val="2D2D2D"/>
                </a:solidFill>
                <a:latin typeface="Arial"/>
              </a:rPr>
              <a:t>• Improved test coverage consistency across modules.</a:t>
            </a:r>
          </a:p>
          <a:p>
            <a:pPr>
              <a:spcAft>
                <a:spcPts val="100"/>
              </a:spcAft>
            </a:pPr>
            <a:r>
              <a:rPr sz="700" b="0" i="0">
                <a:solidFill>
                  <a:srgbClr val="2D2D2D"/>
                </a:solidFill>
                <a:latin typeface="Arial"/>
              </a:rPr>
              <a:t>• Enhanced feedback loops with continuous testing.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9144000" cy="45720"/>
          </a:xfrm>
          <a:prstGeom prst="rect">
            <a:avLst/>
          </a:prstGeom>
          <a:solidFill>
            <a:srgbClr val="D04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8229600" cy="457200"/>
          </a:xfrm>
          <a:prstGeom prst="rect">
            <a:avLst/>
          </a:prstGeom>
          <a:noFill/>
        </p:spPr>
        <p:txBody>
          <a:bodyPr wrap="square" tIns="18288" bIns="18288">
            <a:spAutoFit/>
          </a:bodyPr>
          <a:lstStyle/>
          <a:p>
            <a:pPr algn="l"/>
            <a:r>
              <a:rPr sz="1400" b="1" i="0">
                <a:solidFill>
                  <a:srgbClr val="2D2D2D"/>
                </a:solidFill>
                <a:latin typeface="Arial"/>
              </a:rPr>
              <a:t>Case Study 2: AI-Driven Test Case Generation for E-commerce (E-commerce Platform in North America)</a:t>
            </a:r>
          </a:p>
          <a:p>
            <a:r>
              <a:rPr sz="900" b="0" i="0">
                <a:solidFill>
                  <a:srgbClr val="EBA300"/>
                </a:solidFill>
                <a:latin typeface="Arial"/>
              </a:rPr>
              <a:t>Past credentials and successful delivery outcomes</a:t>
            </a:r>
          </a:p>
        </p:txBody>
      </p:sp>
      <p:sp>
        <p:nvSpPr>
          <p:cNvPr id="5" name="Rectangle 4"/>
          <p:cNvSpPr/>
          <p:nvPr/>
        </p:nvSpPr>
        <p:spPr>
          <a:xfrm>
            <a:off x="0" y="6492240"/>
            <a:ext cx="9144000" cy="3657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8229600" cy="274320"/>
          </a:xfrm>
          <a:prstGeom prst="rect">
            <a:avLst/>
          </a:prstGeom>
          <a:noFill/>
        </p:spPr>
        <p:txBody>
          <a:bodyPr wrap="none">
            <a:spAutoFit/>
          </a:bodyPr>
          <a:lstStyle/>
          <a:p>
            <a:pPr algn="l"/>
            <a:r>
              <a:rPr sz="800" b="0" i="0">
                <a:solidFill>
                  <a:srgbClr val="2D2D2D"/>
                </a:solidFill>
                <a:latin typeface="Arial"/>
              </a:rPr>
              <a:t>Solution Advisory  |  Autonomous Bid Lifecycle Platform  |  AI Draft - For Internal Review Only</a:t>
            </a:r>
          </a:p>
        </p:txBody>
      </p:sp>
      <p:sp>
        <p:nvSpPr>
          <p:cNvPr id="7" name="Rectangle 6"/>
          <p:cNvSpPr/>
          <p:nvPr/>
        </p:nvSpPr>
        <p:spPr>
          <a:xfrm>
            <a:off x="457200" y="1371600"/>
            <a:ext cx="3931920" cy="4754880"/>
          </a:xfrm>
          <a:prstGeom prst="rect">
            <a:avLst/>
          </a:prstGeom>
          <a:solidFill>
            <a:srgbClr val="FFFFFF"/>
          </a:solidFill>
          <a:ln w="1270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34440"/>
            <a:ext cx="2011680" cy="274320"/>
          </a:xfrm>
          <a:prstGeom prst="rect">
            <a:avLst/>
          </a:prstGeom>
          <a:solidFill>
            <a:srgbClr val="FFFFFF"/>
          </a:solidFill>
          <a:ln>
            <a:noFill/>
          </a:ln>
        </p:spPr>
        <p:txBody>
          <a:bodyPr wrap="square" lIns="45720" rIns="45720" tIns="0" bIns="0">
            <a:spAutoFit/>
          </a:bodyPr>
          <a:lstStyle/>
          <a:p>
            <a:r>
              <a:rPr sz="1100" b="1" i="0">
                <a:solidFill>
                  <a:srgbClr val="2D2D2D"/>
                </a:solidFill>
                <a:latin typeface="Arial"/>
              </a:rPr>
              <a:t> High Level Summary </a:t>
            </a:r>
          </a:p>
        </p:txBody>
      </p:sp>
      <p:sp>
        <p:nvSpPr>
          <p:cNvPr id="9" name="TextBox 8"/>
          <p:cNvSpPr txBox="1"/>
          <p:nvPr/>
        </p:nvSpPr>
        <p:spPr>
          <a:xfrm>
            <a:off x="548640" y="1554480"/>
            <a:ext cx="3749039" cy="4480560"/>
          </a:xfrm>
          <a:prstGeom prst="rect">
            <a:avLst/>
          </a:prstGeom>
          <a:noFill/>
        </p:spPr>
        <p:txBody>
          <a:bodyPr wrap="square" lIns="0" rIns="0" tIns="0" bIns="0">
            <a:spAutoFit/>
          </a:bodyPr>
          <a:lstStyle/>
          <a:p>
            <a:pPr>
              <a:spcAft>
                <a:spcPts val="200"/>
              </a:spcAft>
            </a:pPr>
            <a:r>
              <a:rPr sz="1100" b="1" i="0">
                <a:solidFill>
                  <a:srgbClr val="2D2D2D"/>
                </a:solidFill>
                <a:latin typeface="Arial"/>
              </a:rPr>
              <a:t>Business Problem</a:t>
            </a:r>
          </a:p>
          <a:p>
            <a:pPr>
              <a:spcAft>
                <a:spcPts val="200"/>
              </a:spcAft>
            </a:pPr>
            <a:r>
              <a:rPr sz="750" b="0" i="0">
                <a:solidFill>
                  <a:srgbClr val="2D2D2D"/>
                </a:solidFill>
                <a:latin typeface="Arial"/>
              </a:rPr>
              <a:t>• High defect rates due to incomplete test coverage.</a:t>
            </a:r>
          </a:p>
          <a:p>
            <a:pPr>
              <a:spcAft>
                <a:spcPts val="200"/>
              </a:spcAft>
            </a:pPr>
            <a:r>
              <a:rPr sz="750" b="0" i="0">
                <a:solidFill>
                  <a:srgbClr val="2D2D2D"/>
                </a:solidFill>
                <a:latin typeface="Arial"/>
              </a:rPr>
              <a:t>• Manual test case maintenance was inefficient and prone to errors.</a:t>
            </a:r>
          </a:p>
          <a:p>
            <a:pPr>
              <a:spcAft>
                <a:spcPts val="200"/>
              </a:spcAft>
            </a:pPr>
            <a:r>
              <a:rPr sz="750" b="0" i="0">
                <a:solidFill>
                  <a:srgbClr val="2D2D2D"/>
                </a:solidFill>
                <a:latin typeface="Arial"/>
              </a:rPr>
              <a:t>• Delayed time-to-market due to lengthy testing cycles.</a:t>
            </a:r>
          </a:p>
          <a:p>
            <a:pPr>
              <a:spcAft>
                <a:spcPts val="200"/>
              </a:spcAft>
            </a:pPr>
          </a:p>
          <a:p>
            <a:pPr>
              <a:spcAft>
                <a:spcPts val="200"/>
              </a:spcAft>
            </a:pPr>
            <a:r>
              <a:rPr sz="1100" b="1" i="0">
                <a:solidFill>
                  <a:srgbClr val="2D2D2D"/>
                </a:solidFill>
                <a:latin typeface="Arial"/>
              </a:rPr>
              <a:t>Our Approach</a:t>
            </a:r>
          </a:p>
          <a:p>
            <a:pPr>
              <a:spcAft>
                <a:spcPts val="200"/>
              </a:spcAft>
            </a:pPr>
            <a:r>
              <a:rPr sz="750" b="0" i="0">
                <a:solidFill>
                  <a:srgbClr val="2D2D2D"/>
                </a:solidFill>
                <a:latin typeface="Arial"/>
              </a:rPr>
              <a:t>• Implemented an AI-driven test case generation system.</a:t>
            </a:r>
          </a:p>
          <a:p>
            <a:pPr>
              <a:spcAft>
                <a:spcPts val="200"/>
              </a:spcAft>
            </a:pPr>
            <a:r>
              <a:rPr sz="750" b="0" i="0">
                <a:solidFill>
                  <a:srgbClr val="2D2D2D"/>
                </a:solidFill>
                <a:latin typeface="Arial"/>
              </a:rPr>
              <a:t>• Automated the integration of generated tests into existing CI/CD pipelines.</a:t>
            </a:r>
          </a:p>
          <a:p>
            <a:pPr>
              <a:spcAft>
                <a:spcPts val="200"/>
              </a:spcAft>
            </a:pPr>
            <a:r>
              <a:rPr sz="750" b="0" i="0">
                <a:solidFill>
                  <a:srgbClr val="2D2D2D"/>
                </a:solidFill>
                <a:latin typeface="Arial"/>
              </a:rPr>
              <a:t>• Provided a user-friendly interface for artifact upload and test review.</a:t>
            </a:r>
          </a:p>
        </p:txBody>
      </p:sp>
      <p:sp>
        <p:nvSpPr>
          <p:cNvPr id="10" name="Rectangle 9"/>
          <p:cNvSpPr/>
          <p:nvPr/>
        </p:nvSpPr>
        <p:spPr>
          <a:xfrm>
            <a:off x="4572000" y="1371600"/>
            <a:ext cx="4114800" cy="3291840"/>
          </a:xfrm>
          <a:prstGeom prst="rect">
            <a:avLst/>
          </a:prstGeom>
          <a:solidFill>
            <a:srgbClr val="FFFFFF"/>
          </a:solidFill>
          <a:ln w="1270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1234440"/>
            <a:ext cx="2011680" cy="274320"/>
          </a:xfrm>
          <a:prstGeom prst="rect">
            <a:avLst/>
          </a:prstGeom>
          <a:solidFill>
            <a:srgbClr val="FFFFFF"/>
          </a:solidFill>
          <a:ln>
            <a:noFill/>
          </a:ln>
        </p:spPr>
        <p:txBody>
          <a:bodyPr wrap="square" lIns="45720" rIns="45720" tIns="0" bIns="0">
            <a:spAutoFit/>
          </a:bodyPr>
          <a:lstStyle/>
          <a:p>
            <a:r>
              <a:rPr sz="1100" b="1" i="0">
                <a:solidFill>
                  <a:srgbClr val="2D2D2D"/>
                </a:solidFill>
                <a:latin typeface="Arial"/>
              </a:rPr>
              <a:t> Technical Architecture </a:t>
            </a:r>
          </a:p>
        </p:txBody>
      </p:sp>
      <p:pic>
        <p:nvPicPr>
          <p:cNvPr id="12" name="Picture 11" descr="mermaid_825456b5d76c30be.png"/>
          <p:cNvPicPr>
            <a:picLocks noChangeAspect="1"/>
          </p:cNvPicPr>
          <p:nvPr/>
        </p:nvPicPr>
        <p:blipFill>
          <a:blip r:embed="rId2"/>
          <a:stretch>
            <a:fillRect/>
          </a:stretch>
        </p:blipFill>
        <p:spPr>
          <a:xfrm>
            <a:off x="4663440" y="1645920"/>
            <a:ext cx="3931920" cy="1554480"/>
          </a:xfrm>
          <a:prstGeom prst="rect">
            <a:avLst/>
          </a:prstGeom>
        </p:spPr>
      </p:pic>
      <p:sp>
        <p:nvSpPr>
          <p:cNvPr id="13" name="Rectangle 12"/>
          <p:cNvSpPr/>
          <p:nvPr/>
        </p:nvSpPr>
        <p:spPr>
          <a:xfrm>
            <a:off x="4663440" y="3383280"/>
            <a:ext cx="1234440" cy="1188720"/>
          </a:xfrm>
          <a:prstGeom prst="rect">
            <a:avLst/>
          </a:prstGeom>
          <a:solidFill>
            <a:srgbClr val="F8F9FA"/>
          </a:solidFill>
          <a:ln w="635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ts val="850"/>
              </a:lnSpc>
              <a:spcBef>
                <a:spcPts val="0"/>
              </a:spcBef>
              <a:spcAft>
                <a:spcPts val="0"/>
              </a:spcAft>
            </a:pPr>
            <a:r>
              <a:rPr sz="700" b="0" i="0">
                <a:solidFill>
                  <a:srgbClr val="2D2D2D"/>
                </a:solidFill>
                <a:latin typeface="Arial"/>
              </a:rPr>
              <a:t>User uploads artifacts via Web UI.</a:t>
            </a:r>
          </a:p>
        </p:txBody>
      </p:sp>
      <p:sp>
        <p:nvSpPr>
          <p:cNvPr id="14" name="Rectangle 13"/>
          <p:cNvSpPr/>
          <p:nvPr/>
        </p:nvSpPr>
        <p:spPr>
          <a:xfrm>
            <a:off x="5989320" y="3383280"/>
            <a:ext cx="1234440" cy="1188720"/>
          </a:xfrm>
          <a:prstGeom prst="rect">
            <a:avLst/>
          </a:prstGeom>
          <a:solidFill>
            <a:srgbClr val="F8F9FA"/>
          </a:solidFill>
          <a:ln w="635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ts val="850"/>
              </a:lnSpc>
              <a:spcBef>
                <a:spcPts val="0"/>
              </a:spcBef>
              <a:spcAft>
                <a:spcPts val="0"/>
              </a:spcAft>
            </a:pPr>
            <a:r>
              <a:rPr sz="700" b="0" i="0">
                <a:solidFill>
                  <a:srgbClr val="2D2D2D"/>
                </a:solidFill>
                <a:latin typeface="Arial"/>
              </a:rPr>
              <a:t>Artifacts processed and tests generated in Core API Server.</a:t>
            </a:r>
          </a:p>
        </p:txBody>
      </p:sp>
      <p:sp>
        <p:nvSpPr>
          <p:cNvPr id="15" name="Rectangle 14"/>
          <p:cNvSpPr/>
          <p:nvPr/>
        </p:nvSpPr>
        <p:spPr>
          <a:xfrm>
            <a:off x="7315200" y="3383280"/>
            <a:ext cx="1234440" cy="1188720"/>
          </a:xfrm>
          <a:prstGeom prst="rect">
            <a:avLst/>
          </a:prstGeom>
          <a:solidFill>
            <a:srgbClr val="F8F9FA"/>
          </a:solidFill>
          <a:ln w="635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ts val="850"/>
              </a:lnSpc>
              <a:spcBef>
                <a:spcPts val="0"/>
              </a:spcBef>
              <a:spcAft>
                <a:spcPts val="0"/>
              </a:spcAft>
            </a:pPr>
            <a:r>
              <a:rPr sz="700" b="0" i="0">
                <a:solidFill>
                  <a:srgbClr val="2D2D2D"/>
                </a:solidFill>
                <a:latin typeface="Arial"/>
              </a:rPr>
              <a:t>Generated tests reviewed and packaged for implementation.</a:t>
            </a:r>
          </a:p>
        </p:txBody>
      </p:sp>
      <p:sp>
        <p:nvSpPr>
          <p:cNvPr id="16" name="TextBox 15"/>
          <p:cNvSpPr txBox="1"/>
          <p:nvPr/>
        </p:nvSpPr>
        <p:spPr>
          <a:xfrm>
            <a:off x="4572000" y="4663440"/>
            <a:ext cx="2011680" cy="274320"/>
          </a:xfrm>
          <a:prstGeom prst="rect">
            <a:avLst/>
          </a:prstGeom>
          <a:noFill/>
        </p:spPr>
        <p:txBody>
          <a:bodyPr wrap="square">
            <a:spAutoFit/>
          </a:bodyPr>
          <a:lstStyle/>
          <a:p>
            <a:r>
              <a:rPr sz="1100" b="1" i="0">
                <a:solidFill>
                  <a:srgbClr val="2D2D2D"/>
                </a:solidFill>
                <a:latin typeface="Arial"/>
              </a:rPr>
              <a:t>Key Technologies</a:t>
            </a:r>
          </a:p>
        </p:txBody>
      </p:sp>
      <p:sp>
        <p:nvSpPr>
          <p:cNvPr id="17" name="TextBox 16"/>
          <p:cNvSpPr txBox="1"/>
          <p:nvPr/>
        </p:nvSpPr>
        <p:spPr>
          <a:xfrm>
            <a:off x="4572000" y="4937760"/>
            <a:ext cx="2011680" cy="1463040"/>
          </a:xfrm>
          <a:prstGeom prst="rect">
            <a:avLst/>
          </a:prstGeom>
          <a:noFill/>
        </p:spPr>
        <p:txBody>
          <a:bodyPr wrap="square" lIns="0" rIns="0" tIns="0" bIns="0">
            <a:spAutoFit/>
          </a:bodyPr>
          <a:lstStyle/>
          <a:p>
            <a:pPr>
              <a:spcAft>
                <a:spcPts val="100"/>
              </a:spcAft>
            </a:pPr>
            <a:r>
              <a:rPr sz="700" b="0" i="0">
                <a:solidFill>
                  <a:srgbClr val="2D2D2D"/>
                </a:solidFill>
                <a:latin typeface="Arial"/>
              </a:rPr>
              <a:t>• AI</a:t>
            </a:r>
          </a:p>
          <a:p>
            <a:pPr>
              <a:spcAft>
                <a:spcPts val="100"/>
              </a:spcAft>
            </a:pPr>
            <a:r>
              <a:rPr sz="700" b="0" i="0">
                <a:solidFill>
                  <a:srgbClr val="2D2D2D"/>
                </a:solidFill>
                <a:latin typeface="Arial"/>
              </a:rPr>
              <a:t>• CI/CD Pipelines</a:t>
            </a:r>
          </a:p>
          <a:p>
            <a:pPr>
              <a:spcAft>
                <a:spcPts val="100"/>
              </a:spcAft>
            </a:pPr>
            <a:r>
              <a:rPr sz="700" b="0" i="0">
                <a:solidFill>
                  <a:srgbClr val="2D2D2D"/>
                </a:solidFill>
                <a:latin typeface="Arial"/>
              </a:rPr>
              <a:t>• Dashboard</a:t>
            </a:r>
          </a:p>
        </p:txBody>
      </p:sp>
      <p:sp>
        <p:nvSpPr>
          <p:cNvPr id="18" name="TextBox 17"/>
          <p:cNvSpPr txBox="1"/>
          <p:nvPr/>
        </p:nvSpPr>
        <p:spPr>
          <a:xfrm>
            <a:off x="6675120" y="4663440"/>
            <a:ext cx="2011680" cy="274320"/>
          </a:xfrm>
          <a:prstGeom prst="rect">
            <a:avLst/>
          </a:prstGeom>
          <a:noFill/>
        </p:spPr>
        <p:txBody>
          <a:bodyPr wrap="square">
            <a:spAutoFit/>
          </a:bodyPr>
          <a:lstStyle/>
          <a:p>
            <a:r>
              <a:rPr sz="1100" b="1" i="0">
                <a:solidFill>
                  <a:srgbClr val="2D2D2D"/>
                </a:solidFill>
                <a:latin typeface="Arial"/>
              </a:rPr>
              <a:t>Benefits/Outcome</a:t>
            </a:r>
          </a:p>
        </p:txBody>
      </p:sp>
      <p:sp>
        <p:nvSpPr>
          <p:cNvPr id="19" name="TextBox 18"/>
          <p:cNvSpPr txBox="1"/>
          <p:nvPr/>
        </p:nvSpPr>
        <p:spPr>
          <a:xfrm>
            <a:off x="6675120" y="4937760"/>
            <a:ext cx="2011680" cy="1463040"/>
          </a:xfrm>
          <a:prstGeom prst="rect">
            <a:avLst/>
          </a:prstGeom>
          <a:noFill/>
        </p:spPr>
        <p:txBody>
          <a:bodyPr wrap="square" lIns="0" rIns="0" tIns="0" bIns="0">
            <a:spAutoFit/>
          </a:bodyPr>
          <a:lstStyle/>
          <a:p>
            <a:pPr>
              <a:spcAft>
                <a:spcPts val="100"/>
              </a:spcAft>
            </a:pPr>
            <a:r>
              <a:rPr sz="700" b="0" i="0">
                <a:solidFill>
                  <a:srgbClr val="2D2D2D"/>
                </a:solidFill>
                <a:latin typeface="Arial"/>
              </a:rPr>
              <a:t>• Reduced defect rates by 60%.</a:t>
            </a:r>
          </a:p>
          <a:p>
            <a:pPr>
              <a:spcAft>
                <a:spcPts val="100"/>
              </a:spcAft>
            </a:pPr>
            <a:r>
              <a:rPr sz="700" b="0" i="0">
                <a:solidFill>
                  <a:srgbClr val="2D2D2D"/>
                </a:solidFill>
                <a:latin typeface="Arial"/>
              </a:rPr>
              <a:t>• Improved test case maintenance efficiency.</a:t>
            </a:r>
          </a:p>
          <a:p>
            <a:pPr>
              <a:spcAft>
                <a:spcPts val="100"/>
              </a:spcAft>
            </a:pPr>
            <a:r>
              <a:rPr sz="700" b="0" i="0">
                <a:solidFill>
                  <a:srgbClr val="2D2D2D"/>
                </a:solidFill>
                <a:latin typeface="Arial"/>
              </a:rPr>
              <a:t>• Accelerated time-to-market with faster testing cycles.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00"/>
            <a:ext cx="9144000" cy="1371600"/>
          </a:xfrm>
          <a:prstGeom prst="rect">
            <a:avLst/>
          </a:prstGeom>
          <a:noFill/>
        </p:spPr>
        <p:txBody>
          <a:bodyPr wrap="none">
            <a:spAutoFit/>
          </a:bodyPr>
          <a:lstStyle/>
          <a:p>
            <a:pPr algn="ctr"/>
            <a:r>
              <a:rPr sz="7200" b="1" i="0">
                <a:solidFill>
                  <a:srgbClr val="D04A02"/>
                </a:solidFill>
                <a:latin typeface="Aria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