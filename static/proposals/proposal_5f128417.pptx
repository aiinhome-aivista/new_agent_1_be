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A300"/>
                </a:solidFill>
                <a:latin typeface="Arial"/>
              </a:rPr>
              <a:t>PWC IT SOLUTION PROPOSAL</a:t>
            </a:r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Autonomous Proposal Document Creator Platform for hi</a:t>
            </a:r>
          </a:p>
          <a:p>
            <a:r>
              <a:rPr sz="1800" b="0">
                <a:solidFill>
                  <a:srgbClr val="F0F0F0"/>
                </a:solidFill>
                <a:latin typeface="Arial"/>
              </a:rPr>
              <a:t>Prepared for: hi</a:t>
            </a:r>
          </a:p>
          <a:p>
            <a:br/>
            <a:r>
              <a:rPr sz="1100" b="0">
                <a:solidFill>
                  <a:srgbClr val="D04A02"/>
                </a:solidFill>
                <a:latin typeface="Arial"/>
              </a:rPr>
              <a:t>Timeline: 14 Weeks  |  Target Budget: $250,000</a:t>
            </a:r>
            <a:br/>
            <a:r>
              <a:t>Draft Date: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Client Requirements &amp; Gap Analysis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RAG-driven competence matching against RFP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93192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04A02"/>
                </a:solidFill>
                <a:latin typeface="Arial"/>
              </a:rPr>
              <a:t>Key Client Requirements: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Deliver high-performance React front-end application with state management.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Establish secure, authenticated JSON APIs with low latency.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Set up secure containerized database configuration with audit trails.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Implement automated DevOps workflows, CI/CD, and security vulnerability scanning.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Adhere to delivery target timeline within 14 Weeks.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93192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31F34"/>
                </a:solidFill>
                <a:latin typeface="Arial"/>
              </a:rPr>
              <a:t>Capability Gaps &amp; Mitigations: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Identified gap in Client Requirement: 'Establish secure, authenticated JSON APIs with low latency.'. Mitigation: Align with external PwC domain consultants or recruit specialized contractors.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Identified gap in Client Requirement: 'Adhere to delivery target timeline within 14 Weeks.'. Mitigation: Align with external PwC domain consultants or recruit specialized contractors.</a:t>
            </a:r>
          </a:p>
          <a:p>
            <a:r>
              <a:rPr sz="1100" b="0">
                <a:solidFill>
                  <a:srgbClr val="2D2D2D"/>
                </a:solidFill>
                <a:latin typeface="Arial"/>
              </a:rPr>
              <a:t>• Mitigation: Deploy standard PwC Cloud migration blueprint to handle environment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Solution Approach &amp; Methodologies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High-level implementation strategy and operational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46888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468880" cy="5486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01. Agentic Orchestrator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  <a:latin typeface="Arial"/>
              </a:rPr>
              <a:t>Implement a stateful multi-agent orchestrator utilizing ReAct patterns to parse and analyze proposals asynchronously.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46888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468880" cy="5486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02. Responsive React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  <a:latin typeface="Arial"/>
              </a:rPr>
              <a:t>Deliver an intuitive dashboard built with React 18, Zustand, and Tailwind 4.x, offering real-time progress steps and inline document editing.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46888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468880" cy="5486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03. Deterministic Presentation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  <a:latin typeface="Arial"/>
              </a:rPr>
              <a:t>Compile agent decisions into a clean JSON Intermediate Representation (IR), and build a pixel-perfect PPTX deck using python-pptx.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Landscape Architecture &amp; System Design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Reference systems architecture and integration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B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86000" cy="914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Presentation layer (UI Client)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0876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Vite + React 18 SPA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50876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Zustand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50876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Axios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822960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B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2286000" cy="914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Application Logic (API Backend)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69748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Flask Web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69748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Agent Control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697480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Auth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B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2286000" cy="914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Data Integration &amp; Cache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886199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MySQL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886199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python-pptx Builder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886199"/>
            <a:ext cx="1691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2D"/>
                </a:solidFill>
                <a:latin typeface="Arial"/>
              </a:rPr>
              <a:t>Semantic RAG 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Program Timeline &amp; Key Milestones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Sequential delivery phases and target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sp>
        <p:nvSpPr>
          <p:cNvPr id="6" name="Chevron 5"/>
          <p:cNvSpPr/>
          <p:nvPr/>
        </p:nvSpPr>
        <p:spPr>
          <a:xfrm>
            <a:off x="457200" y="1371600"/>
            <a:ext cx="2926080" cy="1188720"/>
          </a:xfrm>
          <a:prstGeom prst="chevron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Phase 1: Inception &amp; Discovery</a:t>
            </a:r>
          </a:p>
          <a:p>
            <a:pPr algn="ctr"/>
            <a:r>
              <a:rPr sz="1000" b="0">
                <a:solidFill>
                  <a:srgbClr val="EBA300"/>
                </a:solidFill>
                <a:latin typeface="Arial"/>
              </a:rPr>
              <a:t>(Weeks 1-3)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371600"/>
            <a:ext cx="502920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D2D2D"/>
                </a:solidFill>
                <a:latin typeface="Arial"/>
              </a:rPr>
              <a:t>Key Deliverables / Activities:</a:t>
            </a:r>
          </a:p>
          <a:p>
            <a:r>
              <a:rPr sz="1000" b="0">
                <a:solidFill>
                  <a:srgbClr val="2D2D2D"/>
                </a:solidFill>
                <a:latin typeface="Arial"/>
              </a:rPr>
              <a:t>Detailed requirements mapping, RAG inventory seeding, initial architecture alignment.</a:t>
            </a:r>
          </a:p>
        </p:txBody>
      </p:sp>
      <p:sp>
        <p:nvSpPr>
          <p:cNvPr id="8" name="Chevron 7"/>
          <p:cNvSpPr/>
          <p:nvPr/>
        </p:nvSpPr>
        <p:spPr>
          <a:xfrm>
            <a:off x="457200" y="2926080"/>
            <a:ext cx="2926080" cy="1188720"/>
          </a:xfrm>
          <a:prstGeom prst="chevron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Phase 2: Core Platform Build</a:t>
            </a:r>
          </a:p>
          <a:p>
            <a:pPr algn="ctr"/>
            <a:r>
              <a:rPr sz="1000" b="0">
                <a:solidFill>
                  <a:srgbClr val="EBA300"/>
                </a:solidFill>
                <a:latin typeface="Arial"/>
              </a:rPr>
              <a:t>(Weeks 4-10)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926080"/>
            <a:ext cx="502920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D2D2D"/>
                </a:solidFill>
                <a:latin typeface="Arial"/>
              </a:rPr>
              <a:t>Key Deliverables / Activities:</a:t>
            </a:r>
          </a:p>
          <a:p>
            <a:r>
              <a:rPr sz="1000" b="0">
                <a:solidFill>
                  <a:srgbClr val="2D2D2D"/>
                </a:solidFill>
                <a:latin typeface="Arial"/>
              </a:rPr>
              <a:t>Setup Flask endpoints, agent orchestration handlers, state management interfaces, and PPTX renderer.</a:t>
            </a:r>
          </a:p>
        </p:txBody>
      </p:sp>
      <p:sp>
        <p:nvSpPr>
          <p:cNvPr id="10" name="Chevron 9"/>
          <p:cNvSpPr/>
          <p:nvPr/>
        </p:nvSpPr>
        <p:spPr>
          <a:xfrm>
            <a:off x="457200" y="4480560"/>
            <a:ext cx="2926080" cy="1188720"/>
          </a:xfrm>
          <a:prstGeom prst="chevron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Phase 3: Integration &amp; Launch</a:t>
            </a:r>
          </a:p>
          <a:p>
            <a:pPr algn="ctr"/>
            <a:r>
              <a:rPr sz="1000" b="0">
                <a:solidFill>
                  <a:srgbClr val="EBA300"/>
                </a:solidFill>
                <a:latin typeface="Arial"/>
              </a:rPr>
              <a:t>(Weeks 11-14)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480560"/>
            <a:ext cx="502920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D2D2D"/>
                </a:solidFill>
                <a:latin typeface="Arial"/>
              </a:rPr>
              <a:t>Key Deliverables / Activities:</a:t>
            </a:r>
          </a:p>
          <a:p>
            <a:r>
              <a:rPr sz="1000" b="0">
                <a:solidFill>
                  <a:srgbClr val="2D2D2D"/>
                </a:solidFill>
                <a:latin typeface="Arial"/>
              </a:rPr>
              <a:t>UAT feedback validation, performance tuning, and staging platform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Resource Distribution &amp; Financial Mapping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Allocated program FTE structure, rate cards, and financial 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 / Competency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Delivery Location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FTE Count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Monthly Rate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Total Financial Sizing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Engagement Director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Hybrid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0.15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$32,000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$21,600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Lead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Onsite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Senior Developer (Front-end)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$8,000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$48,000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Senior Developer (Back-end)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$48,000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QA &amp; Test Engineer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Offshore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$24,000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9050">
            <a:solidFill>
              <a:srgbClr val="D04A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Skills Inventory &amp; PwC Competency Mapping</a:t>
            </a:r>
          </a:p>
          <a:p>
            <a:r>
              <a:rPr sz="1100" b="0">
                <a:solidFill>
                  <a:srgbClr val="EBA300"/>
                </a:solidFill>
                <a:latin typeface="Arial"/>
              </a:rPr>
              <a:t>Required technical capabilities grounded in organizational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D2D2D"/>
                </a:solidFill>
                <a:latin typeface="Arial"/>
              </a:rPr>
              <a:t>PwC Solution Advisory  |  Autonomous Bid Lifecycle Platform  |  AI Draft - For Internal Review Only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200400"/>
                <a:gridCol w="11887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Technical Skill</a:t>
                      </a:r>
                    </a:p>
                  </a:txBody>
                  <a:tcPr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Target Project Role</a:t>
                      </a:r>
                    </a:p>
                  </a:txBody>
                  <a:tcPr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Associated PwC Asset / Capability Team</a:t>
                      </a:r>
                    </a:p>
                  </a:txBody>
                  <a:tcPr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Fit Confidence</a:t>
                      </a:r>
                    </a:p>
                  </a:txBody>
                  <a:tcPr>
                    <a:solidFill>
                      <a:srgbClr val="D04A0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React 18 &amp; TypeScript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Front-end Engineering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PwC Frontend Competency Center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High (95%)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Flask API &amp; Python 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Back-end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PwC Python/Data Competency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High (92%)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MySQL Connector / Database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Data Architect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Enterprise Data Governance Framework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High (90%)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CI/CD &amp; DevOps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DevOps &amp;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PwC DevOps Pipeline Accelerator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High (98%)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2D2D"/>
                          </a:solidFill>
                          <a:latin typeface="Arial"/>
                        </a:rPr>
                        <a:t>ISO27001 Auditing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Security Compliance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Cybersecurity Compliance Competency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2D2D"/>
                          </a:solidFill>
                          <a:latin typeface="Arial"/>
                        </a:rPr>
                        <a:t>High (90%)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